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46"/>
  </p:notesMasterIdLst>
  <p:handoutMasterIdLst>
    <p:handoutMasterId r:id="rId47"/>
  </p:handoutMasterIdLst>
  <p:sldIdLst>
    <p:sldId id="256" r:id="rId2"/>
    <p:sldId id="342" r:id="rId3"/>
    <p:sldId id="343" r:id="rId4"/>
    <p:sldId id="304" r:id="rId5"/>
    <p:sldId id="303" r:id="rId6"/>
    <p:sldId id="305" r:id="rId7"/>
    <p:sldId id="344" r:id="rId8"/>
    <p:sldId id="306" r:id="rId9"/>
    <p:sldId id="345" r:id="rId10"/>
    <p:sldId id="307" r:id="rId11"/>
    <p:sldId id="346" r:id="rId12"/>
    <p:sldId id="308" r:id="rId13"/>
    <p:sldId id="309" r:id="rId14"/>
    <p:sldId id="311" r:id="rId15"/>
    <p:sldId id="310" r:id="rId16"/>
    <p:sldId id="312" r:id="rId17"/>
    <p:sldId id="313" r:id="rId18"/>
    <p:sldId id="314" r:id="rId19"/>
    <p:sldId id="315" r:id="rId20"/>
    <p:sldId id="316" r:id="rId21"/>
    <p:sldId id="347" r:id="rId22"/>
    <p:sldId id="317" r:id="rId23"/>
    <p:sldId id="318" r:id="rId24"/>
    <p:sldId id="319" r:id="rId25"/>
    <p:sldId id="320" r:id="rId26"/>
    <p:sldId id="321" r:id="rId27"/>
    <p:sldId id="322" r:id="rId28"/>
    <p:sldId id="323" r:id="rId29"/>
    <p:sldId id="326" r:id="rId30"/>
    <p:sldId id="324" r:id="rId31"/>
    <p:sldId id="325" r:id="rId32"/>
    <p:sldId id="348" r:id="rId33"/>
    <p:sldId id="327" r:id="rId34"/>
    <p:sldId id="328" r:id="rId35"/>
    <p:sldId id="340" r:id="rId36"/>
    <p:sldId id="329" r:id="rId37"/>
    <p:sldId id="335" r:id="rId38"/>
    <p:sldId id="336" r:id="rId39"/>
    <p:sldId id="341" r:id="rId40"/>
    <p:sldId id="330" r:id="rId41"/>
    <p:sldId id="331" r:id="rId42"/>
    <p:sldId id="332" r:id="rId43"/>
    <p:sldId id="333" r:id="rId44"/>
    <p:sldId id="334" r:id="rId4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13.10.2025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13.10.2025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13.10.2025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13.10.2025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13.10.2025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13.10.2025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sql/t-sql/queries/select-clause-transact-sql?view=sql-server-ver16" TargetMode="External"/><Relationship Id="rId2" Type="http://schemas.openxmlformats.org/officeDocument/2006/relationships/hyperlink" Target="https://learn.microsoft.com/en-us/sql/t-sql/queries/select-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queries/select-having-transact-sql?view=sql-server-ver16" TargetMode="External"/><Relationship Id="rId5" Type="http://schemas.openxmlformats.org/officeDocument/2006/relationships/hyperlink" Target="https://learn.microsoft.com/en-us/sql/t-sql/queries/select-group-by-transact-sql?view=sql-server-ver16" TargetMode="External"/><Relationship Id="rId4" Type="http://schemas.openxmlformats.org/officeDocument/2006/relationships/hyperlink" Target="https://learn.microsoft.com/en-us/sql/t-sql/queries/select-examples-transact-sql?view=sql-server-ver16"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sql/t-sql/queries/where-transact-sql?view=sql-server-ver16" TargetMode="External"/><Relationship Id="rId2" Type="http://schemas.openxmlformats.org/officeDocument/2006/relationships/hyperlink" Target="https://learn.microsoft.com/en-us/sql/t-sql/queries/from-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between-transact-sql?view=sql-server-ver16" TargetMode="External"/><Relationship Id="rId5" Type="http://schemas.openxmlformats.org/officeDocument/2006/relationships/hyperlink" Target="https://learn.microsoft.com/en-us/sql/t-sql/language-elements/like-transact-sql?view=sql-server-ver16" TargetMode="External"/><Relationship Id="rId4" Type="http://schemas.openxmlformats.org/officeDocument/2006/relationships/hyperlink" Target="https://learn.microsoft.com/en-us/sql/t-sql/queries/is-null-transact-sql?view=sql-server-ver16"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en-us/sql/t-sql/language-elements/in-transact-sql?view=sql-server-ver16" TargetMode="External"/><Relationship Id="rId2" Type="http://schemas.openxmlformats.org/officeDocument/2006/relationships/hyperlink" Target="https://learn.microsoft.com/en-us/sql/t-sql/language-elements/exists-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some-any-transact-sql?view=sql-server-ver16" TargetMode="External"/><Relationship Id="rId5" Type="http://schemas.openxmlformats.org/officeDocument/2006/relationships/hyperlink" Target="https://learn.microsoft.com/en-us/sql/t-sql/language-elements/or-transact-sql?view=sql-server-ver16" TargetMode="External"/><Relationship Id="rId4" Type="http://schemas.openxmlformats.org/officeDocument/2006/relationships/hyperlink" Target="https://learn.microsoft.com/en-us/sql/t-sql/language-elements/not-transact-sql?view=sql-server-ver16"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sql/t-sql/language-elements/and-transact-sql?view=sql-server-ver16" TargetMode="External"/><Relationship Id="rId2" Type="http://schemas.openxmlformats.org/officeDocument/2006/relationships/hyperlink" Target="https://learn.microsoft.com/en-us/sql/t-sql/language-elements/all-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insert-transact-sql?view=sql-server-ver16" TargetMode="External"/><Relationship Id="rId5" Type="http://schemas.openxmlformats.org/officeDocument/2006/relationships/hyperlink" Target="https://learn.microsoft.com/en-us/sql/t-sql/language-elements/set-operators-except-and-intersect-transact-sql?view=sql-server-ver16" TargetMode="External"/><Relationship Id="rId4" Type="http://schemas.openxmlformats.org/officeDocument/2006/relationships/hyperlink" Target="https://learn.microsoft.com/en-us/sql/t-sql/language-elements/set-operators-union-transact-sql?view=sql-server-ver16"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sql/t-sql/statements/delete-transact-sql?view=sql-server-ver16" TargetMode="External"/><Relationship Id="rId2" Type="http://schemas.openxmlformats.org/officeDocument/2006/relationships/hyperlink" Target="https://learn.microsoft.com/en-us/sql/t-sql/queries/update-transact-sql?view=sql-server-ver1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pt-BR" dirty="0"/>
              <a:t>SQL DML: Limbaj de manipulare a datelor</a:t>
            </a:r>
            <a:endParaRPr lang="ro-RO" dirty="0"/>
          </a:p>
        </p:txBody>
      </p:sp>
      <p:sp>
        <p:nvSpPr>
          <p:cNvPr id="3" name="Subtitlu 2"/>
          <p:cNvSpPr>
            <a:spLocks noGrp="1"/>
          </p:cNvSpPr>
          <p:nvPr>
            <p:ph type="subTitle" idx="1"/>
          </p:nvPr>
        </p:nvSpPr>
        <p:spPr/>
        <p:txBody>
          <a:bodyPr rtlCol="0"/>
          <a:lstStyle/>
          <a:p>
            <a:pPr rtl="0"/>
            <a:r>
              <a:rPr lang="ro-RO" dirty="0"/>
              <a:t>Seminar 2</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1130-6F5E-7630-30E9-14FC0B07D8D2}"/>
              </a:ext>
            </a:extLst>
          </p:cNvPr>
          <p:cNvSpPr>
            <a:spLocks noGrp="1"/>
          </p:cNvSpPr>
          <p:nvPr>
            <p:ph type="title"/>
          </p:nvPr>
        </p:nvSpPr>
        <p:spPr/>
        <p:txBody>
          <a:bodyPr/>
          <a:lstStyle/>
          <a:p>
            <a:r>
              <a:rPr lang="en-US" dirty="0" err="1">
                <a:latin typeface="+mn-lt"/>
              </a:rPr>
              <a:t>Limbajul</a:t>
            </a:r>
            <a:r>
              <a:rPr lang="en-US" dirty="0">
                <a:latin typeface="+mn-lt"/>
              </a:rPr>
              <a:t> SQL: DML</a:t>
            </a:r>
            <a:endParaRPr lang="ro-RO" dirty="0"/>
          </a:p>
        </p:txBody>
      </p:sp>
      <p:sp>
        <p:nvSpPr>
          <p:cNvPr id="3" name="Content Placeholder 2">
            <a:extLst>
              <a:ext uri="{FF2B5EF4-FFF2-40B4-BE49-F238E27FC236}">
                <a16:creationId xmlns:a16="http://schemas.microsoft.com/office/drawing/2014/main" id="{77687F07-8207-58B6-B65C-97914F2048EA}"/>
              </a:ext>
            </a:extLst>
          </p:cNvPr>
          <p:cNvSpPr>
            <a:spLocks noGrp="1"/>
          </p:cNvSpPr>
          <p:nvPr>
            <p:ph idx="1"/>
          </p:nvPr>
        </p:nvSpPr>
        <p:spPr/>
        <p:txBody>
          <a:bodyPr/>
          <a:lstStyle/>
          <a:p>
            <a:r>
              <a:rPr lang="ro-RO" sz="2000" b="1" dirty="0"/>
              <a:t>D</a:t>
            </a:r>
            <a:r>
              <a:rPr lang="en-US" sz="2000" b="1" dirty="0"/>
              <a:t>M</a:t>
            </a:r>
            <a:r>
              <a:rPr lang="ro-RO" sz="2000" b="1" dirty="0"/>
              <a:t>L</a:t>
            </a:r>
            <a:r>
              <a:rPr lang="en-US" sz="2000" dirty="0"/>
              <a:t> (</a:t>
            </a:r>
            <a:r>
              <a:rPr lang="ro-RO" sz="2000" i="1" dirty="0"/>
              <a:t>Data </a:t>
            </a:r>
            <a:r>
              <a:rPr lang="en-US" sz="2000" i="1" dirty="0"/>
              <a:t>Manipulation</a:t>
            </a:r>
            <a:r>
              <a:rPr lang="ro-RO" sz="2000" i="1" dirty="0"/>
              <a:t> Language</a:t>
            </a:r>
            <a:r>
              <a:rPr lang="en-US" sz="2000" i="1" dirty="0"/>
              <a:t> </a:t>
            </a:r>
            <a:r>
              <a:rPr lang="en-US" sz="2000" dirty="0"/>
              <a:t>- </a:t>
            </a:r>
            <a:r>
              <a:rPr lang="ro-RO" sz="2000" b="1" i="1" dirty="0"/>
              <a:t>Limbaj de </a:t>
            </a:r>
            <a:r>
              <a:rPr lang="en-US" sz="2000" b="1" i="1" dirty="0" err="1"/>
              <a:t>manipulare</a:t>
            </a:r>
            <a:r>
              <a:rPr lang="ro-RO" sz="2000" b="1" i="1" dirty="0"/>
              <a:t> a datelor</a:t>
            </a:r>
            <a:r>
              <a:rPr lang="ro-RO" sz="2000" dirty="0"/>
              <a:t>) conține instrucțiuni pentru inserare, actualizare, ștergere și interogare a datelor stocate într-o bază de date relațională</a:t>
            </a:r>
            <a:endParaRPr lang="en-US" sz="2000" dirty="0"/>
          </a:p>
          <a:p>
            <a:r>
              <a:rPr lang="ro-RO" sz="2000" dirty="0"/>
              <a:t>Cele mai folosite </a:t>
            </a:r>
            <a:r>
              <a:rPr lang="ro-RO" sz="2000" b="1" dirty="0"/>
              <a:t>instrucțiuni DML </a:t>
            </a:r>
            <a:r>
              <a:rPr lang="ro-RO" sz="2000" dirty="0"/>
              <a:t>sunt:</a:t>
            </a:r>
          </a:p>
          <a:p>
            <a:pPr lvl="1"/>
            <a:r>
              <a:rPr lang="ro-RO" b="1" dirty="0"/>
              <a:t>INSERT – </a:t>
            </a:r>
            <a:r>
              <a:rPr lang="ro-RO" dirty="0"/>
              <a:t>inserează înregistrări noi</a:t>
            </a:r>
          </a:p>
          <a:p>
            <a:pPr lvl="1"/>
            <a:r>
              <a:rPr lang="ro-RO" b="1" dirty="0"/>
              <a:t>UPDATE – </a:t>
            </a:r>
            <a:r>
              <a:rPr lang="ro-RO" dirty="0"/>
              <a:t>actualizează înregistrări</a:t>
            </a:r>
          </a:p>
          <a:p>
            <a:pPr lvl="1"/>
            <a:r>
              <a:rPr lang="ro-RO" b="1" dirty="0"/>
              <a:t>DELETE – </a:t>
            </a:r>
            <a:r>
              <a:rPr lang="ro-RO" dirty="0"/>
              <a:t>șterge înregistrări</a:t>
            </a:r>
          </a:p>
          <a:p>
            <a:pPr lvl="1"/>
            <a:r>
              <a:rPr lang="ro-RO" b="1" dirty="0"/>
              <a:t>SELECT – </a:t>
            </a:r>
            <a:r>
              <a:rPr lang="ro-RO" dirty="0"/>
              <a:t>extrage înregistrări </a:t>
            </a:r>
          </a:p>
          <a:p>
            <a:endParaRPr lang="ro-RO" dirty="0"/>
          </a:p>
        </p:txBody>
      </p:sp>
    </p:spTree>
    <p:extLst>
      <p:ext uri="{BB962C8B-B14F-4D97-AF65-F5344CB8AC3E}">
        <p14:creationId xmlns:p14="http://schemas.microsoft.com/office/powerpoint/2010/main" val="2187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32F4-F239-9B97-17EB-5DA477196B3A}"/>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359CC468-AF40-10DA-9D21-5E65C64E3A83}"/>
              </a:ext>
            </a:extLst>
          </p:cNvPr>
          <p:cNvSpPr>
            <a:spLocks noGrp="1"/>
          </p:cNvSpPr>
          <p:nvPr>
            <p:ph idx="1"/>
          </p:nvPr>
        </p:nvSpPr>
        <p:spPr>
          <a:xfrm>
            <a:off x="1341120" y="1572768"/>
            <a:ext cx="10536844" cy="5020056"/>
          </a:xfrm>
        </p:spPr>
        <p:txBody>
          <a:bodyPr/>
          <a:lstStyle/>
          <a:p>
            <a:pPr marL="274320" marR="0" lvl="0" indent="-228600" algn="l" defTabSz="914400" rtl="0" eaLnBrk="1" fontAlgn="auto" latinLnBrk="0" hangingPunct="1">
              <a:lnSpc>
                <a:spcPct val="90000"/>
              </a:lnSpc>
              <a:spcBef>
                <a:spcPts val="1800"/>
              </a:spcBef>
              <a:spcAft>
                <a:spcPts val="0"/>
              </a:spcAft>
              <a:buClrTx/>
              <a:buSzPct val="100000"/>
              <a:buFont typeface="Arial" pitchFamily="34" charset="0"/>
              <a:buChar char="•"/>
              <a:tabLst/>
              <a:defRPr/>
            </a:pP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Să se creeze o bază de date care stochează informații despre un parc de distracții. Entitățile de interes pentru domeniul problemei sunt: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categorii de 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secțiuni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atracții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Fiecare atracție din parcul de distracții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vârstă minimă recomandată </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și aparține unei singure secțiuni. Fiecare secțiune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secțiune poate conține mai multe atracții, dar fiecare atracție aparține unei singure secțiuni. Fiecare vizitator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adresă de email</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aparține unei singure categorii de vizitatori. Fiecare categorie de vizitatori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a:p>
            <a:endParaRPr lang="ro-RO" dirty="0"/>
          </a:p>
        </p:txBody>
      </p:sp>
    </p:spTree>
    <p:extLst>
      <p:ext uri="{BB962C8B-B14F-4D97-AF65-F5344CB8AC3E}">
        <p14:creationId xmlns:p14="http://schemas.microsoft.com/office/powerpoint/2010/main" val="406562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Exercițiu</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6"/>
            <a:ext cx="11036345" cy="4317710"/>
          </a:xfrm>
        </p:spPr>
        <p:txBody>
          <a:bodyPr>
            <a:normAutofit lnSpcReduction="10000"/>
          </a:bodyPr>
          <a:lstStyle/>
          <a:p>
            <a:r>
              <a:rPr lang="en-US" dirty="0"/>
              <a:t>Conform </a:t>
            </a:r>
            <a:r>
              <a:rPr lang="en-US" dirty="0" err="1"/>
              <a:t>enun</a:t>
            </a:r>
            <a:r>
              <a:rPr lang="ro-RO" dirty="0"/>
              <a:t>țului anterior, diagrama bazei de date descrise este următoarea:</a:t>
            </a:r>
          </a:p>
          <a:p>
            <a:endParaRPr lang="ro-RO" dirty="0"/>
          </a:p>
          <a:p>
            <a:endParaRPr lang="ro-RO" dirty="0"/>
          </a:p>
          <a:p>
            <a:endParaRPr lang="ro-RO" dirty="0"/>
          </a:p>
          <a:p>
            <a:endParaRPr lang="ro-RO" dirty="0"/>
          </a:p>
          <a:p>
            <a:endParaRPr lang="ro-RO" dirty="0"/>
          </a:p>
          <a:p>
            <a:endParaRPr lang="ro-RO" dirty="0"/>
          </a:p>
          <a:p>
            <a:endParaRPr lang="ro-RO" dirty="0"/>
          </a:p>
          <a:p>
            <a:r>
              <a:rPr lang="ro-RO" dirty="0"/>
              <a:t>Implementați baza de date care corespunde specificațiilor anterioare în Microsoft SQL Server</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341120" y="2098042"/>
            <a:ext cx="5124335" cy="3106091"/>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Pentru a adăuga date într-un tabel, vom folosi instrucțiunea </a:t>
            </a:r>
            <a:r>
              <a:rPr lang="ro-RO" b="1" dirty="0"/>
              <a:t>INSERT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Adăugarea unei înregistrări noi în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sz="1800" dirty="0">
                <a:solidFill>
                  <a:srgbClr val="0000FF">
                    <a:alpha val="60000"/>
                  </a:srgbClr>
                </a:solidFill>
                <a:latin typeface="Consolas" panose="020B0609020204030204" pitchFamily="49" charset="0"/>
              </a:rPr>
              <a:t>INSERT INTO</a:t>
            </a:r>
            <a:r>
              <a:rPr lang="en-US" sz="1800" dirty="0">
                <a:solidFill>
                  <a:srgbClr val="0000FF">
                    <a:alpha val="60000"/>
                  </a:srgbClr>
                </a:solidFill>
                <a:latin typeface="Consolas" panose="020B0609020204030204" pitchFamily="49" charset="0"/>
              </a:rPr>
              <a:t> </a:t>
            </a:r>
            <a:r>
              <a:rPr lang="ro-RO" sz="1800" dirty="0">
                <a:latin typeface="Consolas" panose="020B0609020204030204" pitchFamily="49" charset="0"/>
              </a:rPr>
              <a:t>Sectiuni (nume, descriere) </a:t>
            </a:r>
            <a:r>
              <a:rPr lang="ro-RO" sz="1800" dirty="0">
                <a:solidFill>
                  <a:srgbClr val="0000FF">
                    <a:alpha val="60000"/>
                  </a:srgbClr>
                </a:solidFill>
                <a:latin typeface="Consolas" panose="020B0609020204030204" pitchFamily="49" charset="0"/>
              </a:rPr>
              <a:t>VALUES</a:t>
            </a:r>
            <a:r>
              <a:rPr lang="ro-RO" sz="1800" dirty="0">
                <a:latin typeface="Consolas" panose="020B0609020204030204" pitchFamily="49" charset="0"/>
              </a:rPr>
              <a:t> </a:t>
            </a:r>
          </a:p>
          <a:p>
            <a:pPr marL="0" indent="0">
              <a:buNone/>
            </a:pPr>
            <a:r>
              <a:rPr lang="ro-RO"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sectiunea</a:t>
            </a:r>
            <a:r>
              <a:rPr lang="en-US" sz="1800" dirty="0">
                <a:solidFill>
                  <a:srgbClr val="FF0000">
                    <a:alpha val="60000"/>
                  </a:srgbClr>
                </a:solidFill>
                <a:latin typeface="Consolas" panose="020B0609020204030204" pitchFamily="49" charset="0"/>
              </a:rPr>
              <a:t> 1'</a:t>
            </a:r>
            <a:r>
              <a:rPr lang="en-US"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cea</a:t>
            </a:r>
            <a:r>
              <a:rPr lang="en-US" sz="1800" dirty="0">
                <a:solidFill>
                  <a:srgbClr val="FF0000">
                    <a:alpha val="60000"/>
                  </a:srgbClr>
                </a:solidFill>
                <a:latin typeface="Consolas" panose="020B0609020204030204" pitchFamily="49" charset="0"/>
              </a:rPr>
              <a:t> </a:t>
            </a:r>
            <a:r>
              <a:rPr lang="en-US" sz="1800" dirty="0" err="1">
                <a:solidFill>
                  <a:srgbClr val="FF0000">
                    <a:alpha val="60000"/>
                  </a:srgbClr>
                </a:solidFill>
                <a:latin typeface="Consolas" panose="020B0609020204030204" pitchFamily="49" charset="0"/>
              </a:rPr>
              <a:t>mai</a:t>
            </a:r>
            <a:r>
              <a:rPr lang="en-US" sz="1800" dirty="0">
                <a:solidFill>
                  <a:srgbClr val="FF0000">
                    <a:alpha val="60000"/>
                  </a:srgbClr>
                </a:solidFill>
                <a:latin typeface="Consolas" panose="020B0609020204030204" pitchFamily="49" charset="0"/>
              </a:rPr>
              <a:t> mare </a:t>
            </a:r>
            <a:r>
              <a:rPr lang="en-US" sz="1800" dirty="0" err="1">
                <a:solidFill>
                  <a:srgbClr val="FF0000">
                    <a:alpha val="60000"/>
                  </a:srgbClr>
                </a:solidFill>
                <a:latin typeface="Consolas" panose="020B0609020204030204" pitchFamily="49" charset="0"/>
              </a:rPr>
              <a:t>sectiune</a:t>
            </a:r>
            <a:r>
              <a:rPr lang="en-US" sz="1800" dirty="0">
                <a:solidFill>
                  <a:srgbClr val="FF0000">
                    <a:alpha val="60000"/>
                  </a:srgbClr>
                </a:solidFill>
                <a:latin typeface="Consolas" panose="020B0609020204030204" pitchFamily="49" charset="0"/>
              </a:rPr>
              <a:t>'</a:t>
            </a:r>
            <a:r>
              <a:rPr lang="en-US" sz="1800" dirty="0">
                <a:latin typeface="Consolas" panose="020B0609020204030204" pitchFamily="49" charset="0"/>
              </a:rPr>
              <a:t>);</a:t>
            </a:r>
          </a:p>
          <a:p>
            <a:pPr marL="320040" lvl="1" indent="0">
              <a:buNone/>
            </a:pPr>
            <a:r>
              <a:rPr lang="en-US" dirty="0">
                <a:solidFill>
                  <a:schemeClr val="accent1">
                    <a:lumMod val="75000"/>
                    <a:alpha val="60000"/>
                  </a:schemeClr>
                </a:solidFill>
              </a:rPr>
              <a:t>	</a:t>
            </a:r>
            <a:r>
              <a:rPr lang="en-US" i="0" dirty="0">
                <a:solidFill>
                  <a:schemeClr val="accent1">
                    <a:lumMod val="75000"/>
                    <a:alpha val="60000"/>
                  </a:schemeClr>
                </a:solidFill>
              </a:rPr>
              <a:t>--</a:t>
            </a:r>
            <a:r>
              <a:rPr lang="ro-RO" i="0" dirty="0">
                <a:solidFill>
                  <a:schemeClr val="accent1">
                    <a:lumMod val="75000"/>
                    <a:alpha val="60000"/>
                  </a:schemeClr>
                </a:solidFill>
              </a:rPr>
              <a:t>Adăugarea unei înregistrări noi în tabelul </a:t>
            </a:r>
            <a:r>
              <a:rPr lang="en-US" dirty="0" err="1">
                <a:solidFill>
                  <a:schemeClr val="accent1">
                    <a:lumMod val="75000"/>
                    <a:alpha val="60000"/>
                  </a:schemeClr>
                </a:solidFill>
              </a:rPr>
              <a:t>Atractii</a:t>
            </a:r>
            <a:endParaRPr lang="en-US" dirty="0">
              <a:solidFill>
                <a:schemeClr val="accent1">
                  <a:lumMod val="75000"/>
                  <a:alpha val="60000"/>
                </a:schemeClr>
              </a:solidFill>
            </a:endParaRPr>
          </a:p>
          <a:p>
            <a:pPr marL="320040" lvl="1" indent="0">
              <a:buNone/>
            </a:pPr>
            <a:r>
              <a:rPr lang="en-US" i="0" dirty="0">
                <a:solidFill>
                  <a:schemeClr val="accent1">
                    <a:lumMod val="75000"/>
                    <a:alpha val="60000"/>
                  </a:schemeClr>
                </a:solidFill>
              </a:rPr>
              <a:t>	</a:t>
            </a:r>
            <a:r>
              <a:rPr lang="ro-RO" i="0" dirty="0">
                <a:solidFill>
                  <a:srgbClr val="0000FF">
                    <a:alpha val="60000"/>
                  </a:srgbClr>
                </a:solidFill>
                <a:latin typeface="Consolas" panose="020B0609020204030204" pitchFamily="49" charset="0"/>
              </a:rPr>
              <a:t>INSERT INTO</a:t>
            </a:r>
            <a:r>
              <a:rPr lang="en-US" i="0" dirty="0">
                <a:solidFill>
                  <a:srgbClr val="0000FF">
                    <a:alpha val="60000"/>
                  </a:srgbClr>
                </a:solidFill>
                <a:latin typeface="Consolas" panose="020B0609020204030204" pitchFamily="49" charset="0"/>
              </a:rPr>
              <a:t> </a:t>
            </a:r>
            <a:r>
              <a:rPr lang="en-US" i="0" dirty="0" err="1">
                <a:latin typeface="Consolas" panose="020B0609020204030204" pitchFamily="49" charset="0"/>
              </a:rPr>
              <a:t>Atractii</a:t>
            </a:r>
            <a:r>
              <a:rPr lang="ro-RO" i="0" dirty="0">
                <a:latin typeface="Consolas" panose="020B0609020204030204" pitchFamily="49" charset="0"/>
              </a:rPr>
              <a:t> (nume, descriere</a:t>
            </a:r>
            <a:r>
              <a:rPr lang="en-US" i="0" dirty="0">
                <a:latin typeface="Consolas" panose="020B0609020204030204" pitchFamily="49" charset="0"/>
              </a:rPr>
              <a:t>, </a:t>
            </a:r>
            <a:r>
              <a:rPr lang="en-US" i="0" dirty="0" err="1">
                <a:latin typeface="Consolas" panose="020B0609020204030204" pitchFamily="49" charset="0"/>
              </a:rPr>
              <a:t>varsta_min</a:t>
            </a:r>
            <a:r>
              <a:rPr lang="en-US" i="0" dirty="0">
                <a:latin typeface="Consolas" panose="020B0609020204030204" pitchFamily="49" charset="0"/>
              </a:rPr>
              <a:t>, </a:t>
            </a:r>
            <a:r>
              <a:rPr lang="en-US" i="0" dirty="0" err="1">
                <a:latin typeface="Consolas" panose="020B0609020204030204" pitchFamily="49" charset="0"/>
              </a:rPr>
              <a:t>cod_s</a:t>
            </a:r>
            <a:r>
              <a:rPr lang="ro-RO" i="0" dirty="0">
                <a:latin typeface="Consolas" panose="020B0609020204030204" pitchFamily="49" charset="0"/>
              </a:rPr>
              <a:t>) </a:t>
            </a:r>
            <a:r>
              <a:rPr lang="ro-RO" i="0" dirty="0">
                <a:solidFill>
                  <a:srgbClr val="0000FF">
                    <a:alpha val="60000"/>
                  </a:srgbClr>
                </a:solidFill>
                <a:latin typeface="Consolas" panose="020B0609020204030204" pitchFamily="49" charset="0"/>
              </a:rPr>
              <a:t>VALUES</a:t>
            </a:r>
          </a:p>
          <a:p>
            <a:pPr marL="320040" lvl="1" indent="0">
              <a:buNone/>
            </a:pPr>
            <a:r>
              <a:rPr lang="ro-RO" i="0" dirty="0">
                <a:latin typeface="Consolas" panose="020B0609020204030204" pitchFamily="49" charset="0"/>
              </a:rPr>
              <a:t> </a:t>
            </a:r>
            <a:r>
              <a:rPr lang="en-US" i="0" dirty="0">
                <a:latin typeface="Consolas" panose="020B0609020204030204" pitchFamily="49" charset="0"/>
              </a:rPr>
              <a:t>	</a:t>
            </a:r>
            <a:r>
              <a:rPr lang="ro-RO" i="0" dirty="0">
                <a:latin typeface="Consolas" panose="020B0609020204030204" pitchFamily="49" charset="0"/>
              </a:rPr>
              <a:t>(</a:t>
            </a:r>
            <a:r>
              <a:rPr lang="en-US" i="0" dirty="0">
                <a:solidFill>
                  <a:srgbClr val="FF0000">
                    <a:alpha val="60000"/>
                  </a:srgbClr>
                </a:solidFill>
                <a:latin typeface="Consolas" panose="020B0609020204030204" pitchFamily="49" charset="0"/>
              </a:rPr>
              <a:t>'rollercoaster'</a:t>
            </a:r>
            <a:r>
              <a:rPr lang="en-US" i="0" dirty="0">
                <a:latin typeface="Consolas" panose="020B0609020204030204" pitchFamily="49" charset="0"/>
              </a:rPr>
              <a:t>, </a:t>
            </a:r>
            <a:r>
              <a:rPr lang="en-US" i="0" dirty="0">
                <a:solidFill>
                  <a:srgbClr val="FF0000">
                    <a:alpha val="60000"/>
                  </a:srgbClr>
                </a:solidFill>
                <a:latin typeface="Consolas" panose="020B0609020204030204" pitchFamily="49" charset="0"/>
              </a:rPr>
              <a:t>'</a:t>
            </a:r>
            <a:r>
              <a:rPr lang="en-US" i="0" dirty="0" err="1">
                <a:solidFill>
                  <a:srgbClr val="FF0000">
                    <a:alpha val="60000"/>
                  </a:srgbClr>
                </a:solidFill>
                <a:latin typeface="Consolas" panose="020B0609020204030204" pitchFamily="49" charset="0"/>
              </a:rPr>
              <a:t>cel</a:t>
            </a:r>
            <a:r>
              <a:rPr lang="en-US" i="0" dirty="0">
                <a:solidFill>
                  <a:srgbClr val="FF0000">
                    <a:alpha val="60000"/>
                  </a:srgbClr>
                </a:solidFill>
                <a:latin typeface="Consolas" panose="020B0609020204030204" pitchFamily="49" charset="0"/>
              </a:rPr>
              <a:t> </a:t>
            </a:r>
            <a:r>
              <a:rPr lang="en-US" i="0" dirty="0" err="1">
                <a:solidFill>
                  <a:srgbClr val="FF0000">
                    <a:alpha val="60000"/>
                  </a:srgbClr>
                </a:solidFill>
                <a:latin typeface="Consolas" panose="020B0609020204030204" pitchFamily="49" charset="0"/>
              </a:rPr>
              <a:t>mai</a:t>
            </a:r>
            <a:r>
              <a:rPr lang="en-US" i="0" dirty="0">
                <a:solidFill>
                  <a:srgbClr val="FF0000">
                    <a:alpha val="60000"/>
                  </a:srgbClr>
                </a:solidFill>
                <a:latin typeface="Consolas" panose="020B0609020204030204" pitchFamily="49" charset="0"/>
              </a:rPr>
              <a:t> rapid </a:t>
            </a:r>
            <a:r>
              <a:rPr lang="en-US" i="0">
                <a:solidFill>
                  <a:srgbClr val="FF0000">
                    <a:alpha val="60000"/>
                  </a:srgbClr>
                </a:solidFill>
                <a:latin typeface="Consolas" panose="020B0609020204030204" pitchFamily="49" charset="0"/>
              </a:rPr>
              <a:t>din parc'</a:t>
            </a:r>
            <a:r>
              <a:rPr lang="en-US" i="0">
                <a:latin typeface="Consolas" panose="020B0609020204030204" pitchFamily="49" charset="0"/>
              </a:rPr>
              <a:t>,</a:t>
            </a:r>
            <a:r>
              <a:rPr lang="ro-RO" i="0" dirty="0">
                <a:latin typeface="Consolas" panose="020B0609020204030204" pitchFamily="49" charset="0"/>
              </a:rPr>
              <a:t> </a:t>
            </a:r>
            <a:r>
              <a:rPr lang="en-US" i="0" dirty="0">
                <a:latin typeface="Consolas" panose="020B0609020204030204" pitchFamily="49" charset="0"/>
              </a:rPr>
              <a:t>12,</a:t>
            </a:r>
            <a:r>
              <a:rPr lang="ro-RO" i="0" dirty="0">
                <a:latin typeface="Consolas" panose="020B0609020204030204" pitchFamily="49" charset="0"/>
              </a:rPr>
              <a:t> </a:t>
            </a:r>
            <a:r>
              <a:rPr lang="en-US" i="0" dirty="0">
                <a:latin typeface="Consolas" panose="020B0609020204030204" pitchFamily="49" charset="0"/>
              </a:rPr>
              <a:t>1);</a:t>
            </a:r>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Observa</a:t>
            </a:r>
            <a:r>
              <a:rPr lang="ro-RO" dirty="0">
                <a:latin typeface="+mn-lt"/>
              </a:rPr>
              <a:t>ții</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Specificarea coloanelor după numele tabelului este opțională</a:t>
            </a:r>
          </a:p>
          <a:p>
            <a:r>
              <a:rPr lang="ro-RO" dirty="0"/>
              <a:t>Prin specificarea coloanelor controlăm asocierile coloană-valoare, deci nu ne bazăm pe ordinea în care apar coloanele atunci când a fost creat tabelul sau când structura tabelului a fost modificată ultima dată</a:t>
            </a:r>
          </a:p>
          <a:p>
            <a:r>
              <a:rPr lang="ro-RO" dirty="0"/>
              <a:t>Dacă </a:t>
            </a:r>
            <a:r>
              <a:rPr lang="ro-RO" b="1" dirty="0"/>
              <a:t>nu</a:t>
            </a:r>
            <a:r>
              <a:rPr lang="ro-RO" dirty="0"/>
              <a:t> specificăm o valoare pentru o coloană, </a:t>
            </a:r>
            <a:r>
              <a:rPr lang="ro-RO" b="1" i="1" dirty="0"/>
              <a:t>SQL Server </a:t>
            </a:r>
            <a:r>
              <a:rPr lang="ro-RO" dirty="0"/>
              <a:t>va verifica dacă există o valoare </a:t>
            </a:r>
            <a:r>
              <a:rPr lang="en-US" dirty="0"/>
              <a:t>implicit</a:t>
            </a:r>
            <a:r>
              <a:rPr lang="ro-RO" dirty="0"/>
              <a:t>ă pentru coloana respectivă iar dacă nu există și coloana nu permite </a:t>
            </a:r>
            <a:r>
              <a:rPr lang="ro-RO" i="1" dirty="0"/>
              <a:t>NULL</a:t>
            </a:r>
            <a:r>
              <a:rPr lang="ro-RO" dirty="0"/>
              <a:t> atunci inserarea </a:t>
            </a:r>
            <a:r>
              <a:rPr lang="ro-RO" b="1" dirty="0"/>
              <a:t>nu </a:t>
            </a:r>
            <a:r>
              <a:rPr lang="ro-RO" dirty="0"/>
              <a:t>va avea loc</a:t>
            </a:r>
            <a:endParaRPr lang="en-US" dirty="0"/>
          </a:p>
          <a:p>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48E6-DFAA-2B01-33C7-685421924616}"/>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AAA4B298-71C6-1073-7CB8-77B26A07D9EB}"/>
              </a:ext>
            </a:extLst>
          </p:cNvPr>
          <p:cNvSpPr>
            <a:spLocks noGrp="1"/>
          </p:cNvSpPr>
          <p:nvPr>
            <p:ph idx="1"/>
          </p:nvPr>
        </p:nvSpPr>
        <p:spPr/>
        <p:txBody>
          <a:bodyPr>
            <a:normAutofit/>
          </a:bodyPr>
          <a:lstStyle/>
          <a:p>
            <a:r>
              <a:rPr lang="ro-RO" sz="2400" dirty="0"/>
              <a:t>Populați fiecare tabel din baza de date creată anterior cu câte 7 înregistrări</a:t>
            </a:r>
          </a:p>
        </p:txBody>
      </p:sp>
    </p:spTree>
    <p:extLst>
      <p:ext uri="{BB962C8B-B14F-4D97-AF65-F5344CB8AC3E}">
        <p14:creationId xmlns:p14="http://schemas.microsoft.com/office/powerpoint/2010/main" val="40803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Pentru a actualiza înregistrări într-un tabel, vom folosi instrucțiunea </a:t>
            </a:r>
            <a:r>
              <a:rPr lang="ro-RO" b="1" dirty="0"/>
              <a:t>UPDATE</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Modificarea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UPDATE</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SET</a:t>
            </a:r>
            <a:r>
              <a:rPr lang="ro-RO" dirty="0">
                <a:latin typeface="Consolas" panose="020B0609020204030204" pitchFamily="49" charset="0"/>
              </a:rPr>
              <a:t> descriere=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cea</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mai</a:t>
            </a:r>
            <a:r>
              <a:rPr lang="en-US" dirty="0">
                <a:solidFill>
                  <a:srgbClr val="FF0000">
                    <a:alpha val="60000"/>
                  </a:srgbClr>
                </a:solidFill>
                <a:latin typeface="Consolas" panose="020B0609020204030204" pitchFamily="49" charset="0"/>
              </a:rPr>
              <a:t> </a:t>
            </a:r>
            <a:r>
              <a:rPr lang="ro-RO" dirty="0">
                <a:solidFill>
                  <a:srgbClr val="FF0000">
                    <a:alpha val="60000"/>
                  </a:srgbClr>
                </a:solidFill>
                <a:latin typeface="Consolas" panose="020B0609020204030204" pitchFamily="49" charset="0"/>
              </a:rPr>
              <a:t>veche</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sectiune</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 </a:t>
            </a:r>
          </a:p>
          <a:p>
            <a:pPr marL="0" indent="0">
              <a:buNone/>
            </a:pPr>
            <a:r>
              <a:rPr lang="ro-RO" dirty="0">
                <a:solidFill>
                  <a:srgbClr val="FF0000">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en-US" dirty="0">
              <a:latin typeface="Consolas" panose="020B0609020204030204" pitchFamily="49" charset="0"/>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actualizarea tuturor înregistrărilor din tabel</a:t>
            </a:r>
          </a:p>
          <a:p>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D30D-FD77-D4E5-7906-F1CF87056912}"/>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44EAC0BF-4A92-844E-0F15-1AB759C33CD3}"/>
              </a:ext>
            </a:extLst>
          </p:cNvPr>
          <p:cNvSpPr>
            <a:spLocks noGrp="1"/>
          </p:cNvSpPr>
          <p:nvPr>
            <p:ph idx="1"/>
          </p:nvPr>
        </p:nvSpPr>
        <p:spPr/>
        <p:txBody>
          <a:bodyPr>
            <a:normAutofit/>
          </a:bodyPr>
          <a:lstStyle/>
          <a:p>
            <a:r>
              <a:rPr lang="ro-RO" sz="2400" dirty="0"/>
              <a:t>Actualizați câte o înregistrare din fiecare tabel din baza de date creată anterior </a:t>
            </a:r>
          </a:p>
        </p:txBody>
      </p:sp>
    </p:spTree>
    <p:extLst>
      <p:ext uri="{BB962C8B-B14F-4D97-AF65-F5344CB8AC3E}">
        <p14:creationId xmlns:p14="http://schemas.microsoft.com/office/powerpoint/2010/main" val="169470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587082" cy="4954572"/>
          </a:xfrm>
        </p:spPr>
        <p:txBody>
          <a:bodyPr/>
          <a:lstStyle/>
          <a:p>
            <a:r>
              <a:rPr lang="ro-RO" dirty="0"/>
              <a:t>Pentru a șterge înregistrări dintr-un tabel, vom folosi instrucțiunea </a:t>
            </a:r>
            <a:r>
              <a:rPr lang="ro-RO" b="1" dirty="0"/>
              <a:t>DELETE </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Ștergerea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DELETE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endParaRPr lang="ro-RO" dirty="0">
              <a:solidFill>
                <a:srgbClr val="FF0000">
                  <a:alpha val="60000"/>
                </a:srgbClr>
              </a:solidFill>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ștergerea tuturor înregistrărilor din tabel</a:t>
            </a:r>
          </a:p>
          <a:p>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A21F-87DF-24E5-1277-358CE95E2AC7}"/>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C65C3A8E-417F-BE7E-B045-6DB253A0C4E1}"/>
              </a:ext>
            </a:extLst>
          </p:cNvPr>
          <p:cNvSpPr>
            <a:spLocks noGrp="1"/>
          </p:cNvSpPr>
          <p:nvPr>
            <p:ph idx="1"/>
          </p:nvPr>
        </p:nvSpPr>
        <p:spPr>
          <a:xfrm>
            <a:off x="1341119" y="1572768"/>
            <a:ext cx="10176625" cy="4142232"/>
          </a:xfrm>
        </p:spPr>
        <p:txBody>
          <a:bodyPr/>
          <a:lstStyle/>
          <a:p>
            <a:pPr marL="502920" indent="-457200">
              <a:buFont typeface="+mj-lt"/>
              <a:buAutoNum type="arabicPeriod"/>
            </a:pPr>
            <a:r>
              <a:rPr lang="ro-RO" sz="2400" dirty="0"/>
              <a:t>Ștergeți o înregistrare din tabelul </a:t>
            </a:r>
            <a:r>
              <a:rPr lang="ro-RO" sz="2400" i="1" dirty="0"/>
              <a:t>Note </a:t>
            </a:r>
          </a:p>
          <a:p>
            <a:pPr marL="502920" indent="-457200">
              <a:buFont typeface="+mj-lt"/>
              <a:buAutoNum type="arabicPeriod"/>
            </a:pPr>
            <a:r>
              <a:rPr lang="ro-RO" sz="2400" dirty="0"/>
              <a:t>Ștergeți o înregistrare din tabelul </a:t>
            </a:r>
            <a:r>
              <a:rPr lang="ro-RO" sz="2400" i="1" dirty="0"/>
              <a:t>Atracții</a:t>
            </a:r>
            <a:r>
              <a:rPr lang="ro-RO" sz="2400" dirty="0"/>
              <a:t> (observați care este efectul acestei operații de ștergere)</a:t>
            </a:r>
          </a:p>
        </p:txBody>
      </p:sp>
    </p:spTree>
    <p:extLst>
      <p:ext uri="{BB962C8B-B14F-4D97-AF65-F5344CB8AC3E}">
        <p14:creationId xmlns:p14="http://schemas.microsoft.com/office/powerpoint/2010/main" val="17160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97801" cy="5007838"/>
          </a:xfrm>
        </p:spPr>
        <p:txBody>
          <a:bodyPr/>
          <a:lstStyle/>
          <a:p>
            <a:r>
              <a:rPr lang="ro-RO" dirty="0"/>
              <a:t>Dacă dorim să extragem înregistrări din baza de date, vom folosi instrucțiunea </a:t>
            </a:r>
            <a:r>
              <a:rPr lang="ro-RO" b="1" dirty="0"/>
              <a:t>SELECT</a:t>
            </a:r>
            <a:r>
              <a:rPr lang="ro-RO" dirty="0"/>
              <a:t>, iar</a:t>
            </a:r>
            <a:r>
              <a:rPr lang="ro-RO" b="1" dirty="0"/>
              <a:t> rezultatul interogării</a:t>
            </a:r>
            <a:r>
              <a:rPr lang="ro-RO" dirty="0"/>
              <a:t> </a:t>
            </a:r>
            <a:r>
              <a:rPr lang="en-US" dirty="0" err="1"/>
              <a:t>va</a:t>
            </a:r>
            <a:r>
              <a:rPr lang="en-US" dirty="0"/>
              <a:t> fi </a:t>
            </a:r>
            <a:r>
              <a:rPr lang="en-US" dirty="0" err="1"/>
              <a:t>afi</a:t>
            </a:r>
            <a:r>
              <a:rPr lang="ro-RO" dirty="0"/>
              <a:t>șat într-un </a:t>
            </a:r>
            <a:r>
              <a:rPr lang="ro-RO" b="1" dirty="0"/>
              <a:t>tabel rezultat </a:t>
            </a:r>
            <a:r>
              <a:rPr lang="ro-RO" dirty="0"/>
              <a:t>(</a:t>
            </a:r>
            <a:r>
              <a:rPr lang="ro-RO" i="1" dirty="0"/>
              <a:t>result-set</a:t>
            </a:r>
            <a:r>
              <a:rPr lang="ro-RO" dirty="0"/>
              <a: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r>
              <a:rPr lang="en-US" dirty="0">
                <a:solidFill>
                  <a:schemeClr val="accent1">
                    <a:lumMod val="75000"/>
                    <a:alpha val="60000"/>
                  </a:schemeClr>
                </a:solidFill>
              </a:rPr>
              <a:t>, specific</a:t>
            </a:r>
            <a:r>
              <a:rPr lang="ro-RO" dirty="0">
                <a:solidFill>
                  <a:schemeClr val="accent1">
                    <a:lumMod val="75000"/>
                    <a:alpha val="60000"/>
                  </a:schemeClr>
                </a:solidFill>
              </a:rPr>
              <a:t>ând explicit 	numele coloanelor*/</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en-US" dirty="0" err="1">
                <a:latin typeface="Consolas" panose="020B0609020204030204" pitchFamily="49" charset="0"/>
              </a:rPr>
              <a:t>cod_s</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err="1">
                <a:latin typeface="Consolas" panose="020B0609020204030204" pitchFamily="49" charset="0"/>
              </a:rPr>
              <a:t>descriere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986577" cy="4643854"/>
          </a:xfrm>
        </p:spPr>
        <p:txBody>
          <a:bodyPr/>
          <a:lstStyle/>
          <a:p>
            <a:r>
              <a:rPr lang="ro-RO" dirty="0"/>
              <a:t>Dacă dorim să extragem doar valorile distincte dintr-o coloană (sau combinație de coloane) vom folosi cuvântul cheie </a:t>
            </a:r>
            <a:r>
              <a:rPr lang="ro-RO" b="1" dirty="0"/>
              <a:t>DISTINCT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valorilor distincte din coloana </a:t>
            </a:r>
            <a:r>
              <a:rPr lang="ro-RO" i="1" dirty="0">
                <a:solidFill>
                  <a:schemeClr val="accent1">
                    <a:lumMod val="75000"/>
                    <a:alpha val="60000"/>
                  </a:schemeClr>
                </a:solidFill>
              </a:rPr>
              <a:t>varsta_min </a:t>
            </a:r>
            <a:r>
              <a:rPr lang="ro-RO" dirty="0">
                <a:solidFill>
                  <a:schemeClr val="accent1">
                    <a:lumMod val="75000"/>
                    <a:alpha val="60000"/>
                  </a:schemeClr>
                </a:solidFill>
              </a:rPr>
              <a:t>din tabelul </a:t>
            </a:r>
            <a:r>
              <a:rPr lang="ro-RO" i="1" dirty="0">
                <a:solidFill>
                  <a:schemeClr val="accent1">
                    <a:lumMod val="75000"/>
                    <a:alpha val="60000"/>
                  </a:schemeClr>
                </a:solidFill>
              </a:rPr>
              <a:t>Atractii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DISTINCT </a:t>
            </a:r>
            <a:r>
              <a:rPr lang="ro-RO" dirty="0">
                <a:latin typeface="Consolas" panose="020B0609020204030204" pitchFamily="49" charset="0"/>
              </a:rPr>
              <a:t>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a:t>
            </a:r>
            <a:r>
              <a:rPr lang="en-US" dirty="0">
                <a:latin typeface="Consolas" panose="020B0609020204030204" pitchFamily="49" charset="0"/>
              </a:rPr>
              <a:t>; </a:t>
            </a:r>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4972327"/>
          </a:xfrm>
        </p:spPr>
        <p:txBody>
          <a:bodyPr/>
          <a:lstStyle/>
          <a:p>
            <a:r>
              <a:rPr lang="ro-RO" dirty="0"/>
              <a:t>Dacă dorim ca o interogare să returneze doar înregistrări care îndeplinesc anumite criterii, vom folosi clauza </a:t>
            </a:r>
            <a:r>
              <a:rPr lang="ro-RO" b="1" dirty="0"/>
              <a:t>WHERE</a:t>
            </a:r>
          </a:p>
          <a:p>
            <a:r>
              <a:rPr lang="ro-RO" dirty="0"/>
              <a:t>Exemplu: </a:t>
            </a:r>
          </a:p>
          <a:p>
            <a:pPr marL="0" indent="0">
              <a:buNone/>
            </a:pPr>
            <a:r>
              <a:rPr lang="ro-RO" dirty="0">
                <a:solidFill>
                  <a:schemeClr val="accent1">
                    <a:lumMod val="75000"/>
                    <a:alpha val="60000"/>
                  </a:schemeClr>
                </a:solidFill>
              </a:rPr>
              <a:t>	/*Returnarea numelui și descrierii atracțiilor care au vârsta minimă recomandată 	egală cu 12*/</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descriere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varsta_min=12</a:t>
            </a:r>
            <a:r>
              <a:rPr lang="en-US" dirty="0">
                <a:latin typeface="Consolas" panose="020B0609020204030204" pitchFamily="49" charset="0"/>
              </a:rPr>
              <a:t>; </a:t>
            </a:r>
          </a:p>
          <a:p>
            <a:pPr marL="0" indent="0">
              <a:buNone/>
            </a:pPr>
            <a:r>
              <a:rPr lang="ro-RO" dirty="0">
                <a:solidFill>
                  <a:schemeClr val="accent1">
                    <a:lumMod val="75000"/>
                    <a:alpha val="60000"/>
                  </a:schemeClr>
                </a:solidFill>
              </a:rPr>
              <a:t>	/*Returnarea numelui și vârstei minime recomandate ale atracțiilor care au </a:t>
            </a:r>
            <a:r>
              <a:rPr lang="en-US" dirty="0">
                <a:solidFill>
                  <a:schemeClr val="accent1">
                    <a:lumMod val="75000"/>
                    <a:alpha val="60000"/>
                  </a:schemeClr>
                </a:solidFill>
              </a:rPr>
              <a:t>	</a:t>
            </a:r>
            <a:r>
              <a:rPr lang="ro-RO" dirty="0">
                <a:solidFill>
                  <a:schemeClr val="accent1">
                    <a:lumMod val="75000"/>
                    <a:alpha val="60000"/>
                  </a:schemeClr>
                </a:solidFill>
              </a:rPr>
              <a:t>numele diferit de </a:t>
            </a:r>
            <a:r>
              <a:rPr lang="en-US" dirty="0">
                <a:solidFill>
                  <a:schemeClr val="accent1">
                    <a:lumMod val="75000"/>
                    <a:alpha val="60000"/>
                  </a:schemeClr>
                </a:solidFill>
              </a:rPr>
              <a:t>‘</a:t>
            </a:r>
            <a:r>
              <a:rPr lang="ro-RO" dirty="0">
                <a:solidFill>
                  <a:schemeClr val="accent1">
                    <a:lumMod val="75000"/>
                    <a:alpha val="60000"/>
                  </a:schemeClr>
                </a:solidFill>
              </a:rPr>
              <a:t>Castelul Negru</a:t>
            </a:r>
            <a:r>
              <a:rPr lang="en-US" dirty="0">
                <a:solidFill>
                  <a:schemeClr val="accent1">
                    <a:lumMod val="75000"/>
                    <a:alpha val="60000"/>
                  </a:schemeClr>
                </a:solidFill>
              </a:rPr>
              <a:t>’</a:t>
            </a:r>
            <a:r>
              <a:rPr lang="ro-RO" dirty="0">
                <a:solidFill>
                  <a:schemeClr val="accent1">
                    <a:lumMod val="75000"/>
                    <a:alpha val="60000"/>
                  </a:schemeClr>
                </a:solidFill>
              </a:rPr>
              <a:t>*/</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latin typeface="Consolas" panose="020B0609020204030204" pitchFamily="49" charset="0"/>
              </a:rPr>
              <a:t>&lt;&gt;</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Castelul</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Negru</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en-US" dirty="0" err="1"/>
              <a:t>Dac</a:t>
            </a:r>
            <a:r>
              <a:rPr lang="ro-RO" dirty="0"/>
              <a:t>ă dorim să returnăm toate atracțiile care au vârsta minimă recomandată </a:t>
            </a:r>
            <a:r>
              <a:rPr lang="ro-RO" b="1" dirty="0"/>
              <a:t>mai mare sau egală cu 14</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a:t>
            </a:r>
            <a:r>
              <a:rPr lang="en-US" dirty="0">
                <a:latin typeface="Consolas" panose="020B0609020204030204" pitchFamily="49" charset="0"/>
              </a:rPr>
              <a:t>4;</a:t>
            </a:r>
          </a:p>
          <a:p>
            <a:r>
              <a:rPr lang="en-US" dirty="0" err="1"/>
              <a:t>Dac</a:t>
            </a:r>
            <a:r>
              <a:rPr lang="ro-RO" dirty="0"/>
              <a:t>ă dorim să returnăm toate atracțiile care au vârsta minimă recomandată </a:t>
            </a:r>
            <a:r>
              <a:rPr lang="ro-RO" b="1" dirty="0"/>
              <a:t>mai m</a:t>
            </a:r>
            <a:r>
              <a:rPr lang="en-US" b="1" dirty="0" err="1"/>
              <a:t>ic</a:t>
            </a:r>
            <a:r>
              <a:rPr lang="ro-RO" b="1" dirty="0"/>
              <a:t>ă sau egală cu 1</a:t>
            </a:r>
            <a:r>
              <a:rPr lang="en-US" b="1" dirty="0"/>
              <a:t>6</a:t>
            </a:r>
            <a:r>
              <a:rPr lang="ro-RO" dirty="0"/>
              <a:t>, vom executa următoarea interogare:</a:t>
            </a:r>
            <a:endParaRPr lang="en-US" dirty="0"/>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&lt;=</a:t>
            </a:r>
            <a:r>
              <a:rPr lang="ro-RO" dirty="0">
                <a:latin typeface="Consolas" panose="020B0609020204030204" pitchFamily="49" charset="0"/>
              </a:rPr>
              <a:t>1</a:t>
            </a:r>
            <a:r>
              <a:rPr lang="en-US" dirty="0">
                <a:latin typeface="Consolas" panose="020B0609020204030204" pitchFamily="49" charset="0"/>
              </a:rPr>
              <a:t>6;</a:t>
            </a:r>
          </a:p>
          <a:p>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en-US" dirty="0" err="1"/>
              <a:t>Dac</a:t>
            </a:r>
            <a:r>
              <a:rPr lang="ro-RO" dirty="0"/>
              <a:t>ă dorim să returnăm toate atracțiile care au vârsta minimă recomandată </a:t>
            </a:r>
            <a:r>
              <a:rPr lang="en-US" dirty="0"/>
              <a:t>strict </a:t>
            </a:r>
            <a:r>
              <a:rPr lang="ro-RO" dirty="0"/>
              <a:t>mai mare decât 11 și </a:t>
            </a:r>
            <a:r>
              <a:rPr lang="en-US" dirty="0"/>
              <a:t>strict </a:t>
            </a:r>
            <a:r>
              <a:rPr lang="ro-RO" dirty="0"/>
              <a:t>mai m</a:t>
            </a:r>
            <a:r>
              <a:rPr lang="en-US" dirty="0" err="1"/>
              <a:t>ic</a:t>
            </a:r>
            <a:r>
              <a:rPr lang="ro-RO" dirty="0"/>
              <a:t>ă decât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11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varsta_min</a:t>
            </a:r>
            <a:r>
              <a:rPr lang="en-US" dirty="0">
                <a:latin typeface="Consolas" panose="020B0609020204030204" pitchFamily="49" charset="0"/>
              </a:rPr>
              <a:t>&lt;16;</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a:t>
            </a:r>
            <a:r>
              <a:rPr lang="en-US" dirty="0" err="1">
                <a:solidFill>
                  <a:schemeClr val="accent1">
                    <a:lumMod val="75000"/>
                    <a:alpha val="60000"/>
                  </a:schemeClr>
                </a:solidFill>
              </a:rPr>
              <a:t>Varianta</a:t>
            </a:r>
            <a:r>
              <a:rPr lang="en-US" dirty="0">
                <a:solidFill>
                  <a:schemeClr val="accent1">
                    <a:lumMod val="75000"/>
                    <a:alpha val="60000"/>
                  </a:schemeClr>
                </a:solidFill>
              </a:rPr>
              <a:t> cu </a:t>
            </a:r>
            <a:r>
              <a:rPr lang="en-US" dirty="0" err="1">
                <a:solidFill>
                  <a:schemeClr val="accent1">
                    <a:lumMod val="75000"/>
                    <a:alpha val="60000"/>
                  </a:schemeClr>
                </a:solidFill>
              </a:rPr>
              <a:t>operatorul</a:t>
            </a:r>
            <a:r>
              <a:rPr lang="en-US" dirty="0">
                <a:solidFill>
                  <a:schemeClr val="accent1">
                    <a:lumMod val="75000"/>
                    <a:alpha val="60000"/>
                  </a:schemeClr>
                </a:solidFill>
              </a:rPr>
              <a:t> BETWEEN, care </a:t>
            </a:r>
            <a:r>
              <a:rPr lang="ro-RO" dirty="0">
                <a:solidFill>
                  <a:schemeClr val="accent1">
                    <a:lumMod val="75000"/>
                    <a:alpha val="60000"/>
                  </a:schemeClr>
                </a:solidFill>
              </a:rPr>
              <a:t>specifică un interval închis de valori</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a:t>
            </a:r>
            <a:r>
              <a:rPr lang="en-US" dirty="0">
                <a:latin typeface="Consolas" panose="020B0609020204030204" pitchFamily="49" charset="0"/>
              </a:rPr>
              <a:t>2</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5</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ro-RO" b="1" dirty="0"/>
              <a:t>în afara intervalului închis </a:t>
            </a:r>
            <a:r>
              <a:rPr lang="en-US" b="1" dirty="0"/>
              <a:t>[14,18]</a:t>
            </a:r>
            <a:r>
              <a:rPr lang="en-US" dirty="0"/>
              <a:t>, </a:t>
            </a:r>
            <a:r>
              <a:rPr lang="en-US" dirty="0" err="1"/>
              <a:t>vom</a:t>
            </a:r>
            <a:r>
              <a:rPr lang="en-US" dirty="0"/>
              <a:t> </a:t>
            </a:r>
            <a:r>
              <a:rPr lang="en-US" dirty="0" err="1"/>
              <a:t>executa</a:t>
            </a:r>
            <a:r>
              <a:rPr lang="en-US" dirty="0"/>
              <a:t> </a:t>
            </a:r>
            <a:r>
              <a:rPr lang="en-US" dirty="0" err="1"/>
              <a:t>urm</a:t>
            </a:r>
            <a:r>
              <a:rPr lang="ro-RO" dirty="0"/>
              <a:t>ătoarea interogare</a:t>
            </a:r>
            <a:r>
              <a:rPr lang="en-US" dirty="0"/>
              <a:t>:</a:t>
            </a:r>
            <a:endParaRPr lang="ro-RO" dirty="0"/>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14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8</a:t>
            </a:r>
            <a:r>
              <a:rPr lang="en-US" dirty="0">
                <a:latin typeface="Consolas" panose="020B0609020204030204" pitchFamily="49" charset="0"/>
              </a:rPr>
              <a:t>;</a:t>
            </a:r>
          </a:p>
          <a:p>
            <a:r>
              <a:rPr lang="en-US" dirty="0">
                <a:solidFill>
                  <a:srgbClr val="FF0000">
                    <a:alpha val="60000"/>
                  </a:srgbClr>
                </a:solidFill>
              </a:rPr>
              <a:t>!!!</a:t>
            </a:r>
            <a:r>
              <a:rPr lang="ro-RO" dirty="0">
                <a:solidFill>
                  <a:srgbClr val="FF0000">
                    <a:alpha val="60000"/>
                  </a:srgbClr>
                </a:solidFill>
              </a:rPr>
              <a:t>Tipul de date al c</a:t>
            </a:r>
            <a:r>
              <a:rPr lang="en-US" dirty="0" err="1">
                <a:solidFill>
                  <a:srgbClr val="FF0000">
                    <a:alpha val="60000"/>
                  </a:srgbClr>
                </a:solidFill>
              </a:rPr>
              <a:t>oloan</a:t>
            </a:r>
            <a:r>
              <a:rPr lang="ro-RO" dirty="0">
                <a:solidFill>
                  <a:srgbClr val="FF0000">
                    <a:alpha val="60000"/>
                  </a:srgbClr>
                </a:solidFill>
              </a:rPr>
              <a:t>ei</a:t>
            </a:r>
            <a:r>
              <a:rPr lang="en-US" dirty="0">
                <a:solidFill>
                  <a:srgbClr val="FF0000">
                    <a:alpha val="60000"/>
                  </a:srgbClr>
                </a:solidFill>
              </a:rPr>
              <a:t> </a:t>
            </a:r>
            <a:r>
              <a:rPr lang="ro-RO" i="1" dirty="0">
                <a:solidFill>
                  <a:srgbClr val="FF0000">
                    <a:alpha val="60000"/>
                  </a:srgbClr>
                </a:solidFill>
              </a:rPr>
              <a:t>varsta_min </a:t>
            </a:r>
            <a:r>
              <a:rPr lang="ro-RO" dirty="0">
                <a:solidFill>
                  <a:srgbClr val="FF0000">
                    <a:alpha val="60000"/>
                  </a:srgbClr>
                </a:solidFill>
              </a:rPr>
              <a:t>este </a:t>
            </a:r>
            <a:r>
              <a:rPr lang="ro-RO" b="1" dirty="0">
                <a:solidFill>
                  <a:srgbClr val="FF0000">
                    <a:alpha val="60000"/>
                  </a:srgbClr>
                </a:solidFill>
              </a:rPr>
              <a:t>int</a:t>
            </a:r>
            <a:endParaRPr lang="en-US" b="1" dirty="0">
              <a:solidFill>
                <a:srgbClr val="FF0000">
                  <a:alpha val="60000"/>
                </a:srgbClr>
              </a:solidFill>
            </a:endParaRPr>
          </a:p>
          <a:p>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10184"/>
          </a:xfrm>
        </p:spPr>
        <p:txBody>
          <a:bodyPr/>
          <a:lstStyle/>
          <a:p>
            <a:r>
              <a:rPr lang="en-US" dirty="0" err="1"/>
              <a:t>Dac</a:t>
            </a:r>
            <a:r>
              <a:rPr lang="ro-RO" dirty="0"/>
              <a:t>ă dorim să returnăm toate atracțiile care au vârsta minimă recomandată </a:t>
            </a:r>
            <a:r>
              <a:rPr lang="ro-RO" b="1" dirty="0"/>
              <a:t>egală</a:t>
            </a:r>
            <a:r>
              <a:rPr lang="ro-RO" dirty="0"/>
              <a:t> cu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en-US" b="1" dirty="0" err="1"/>
              <a:t>diferit</a:t>
            </a:r>
            <a:r>
              <a:rPr lang="ro-RO" b="1" dirty="0"/>
              <a:t>ă</a:t>
            </a:r>
            <a:r>
              <a:rPr lang="ro-RO" dirty="0"/>
              <a:t> de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dirty="0"/>
              <a:t>Pentru a specifica șabloane de căutare într-o coloană, vom folosi operatorul </a:t>
            </a:r>
            <a:r>
              <a:rPr lang="ro-RO" b="1" dirty="0"/>
              <a:t>LIKE</a:t>
            </a:r>
          </a:p>
          <a:p>
            <a:r>
              <a:rPr lang="en-US" dirty="0" err="1"/>
              <a:t>Dac</a:t>
            </a:r>
            <a:r>
              <a:rPr lang="ro-RO" dirty="0"/>
              <a:t>ă dorim să returnăm toate înregistrările din tabelul </a:t>
            </a:r>
            <a:r>
              <a:rPr lang="ro-RO" i="1" dirty="0"/>
              <a:t>Vizitatori</a:t>
            </a:r>
            <a:r>
              <a:rPr lang="ro-RO" dirty="0"/>
              <a:t> pentru care numele începe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 </a:t>
            </a:r>
            <a:r>
              <a:rPr lang="en-US" dirty="0"/>
              <a:t>se </a:t>
            </a:r>
            <a:r>
              <a:rPr lang="en-US" dirty="0" err="1"/>
              <a:t>termin</a:t>
            </a:r>
            <a:r>
              <a:rPr lang="ro-RO" dirty="0"/>
              <a:t>ă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80045" cy="4945694"/>
          </a:xfrm>
        </p:spPr>
        <p:txBody>
          <a:bodyPr/>
          <a:lstStyle/>
          <a:p>
            <a:r>
              <a:rPr lang="en-US" dirty="0" err="1"/>
              <a:t>Dac</a:t>
            </a:r>
            <a:r>
              <a:rPr lang="ro-RO" dirty="0"/>
              <a:t>ă dorim să returnăm toate înregistrările din tabelul </a:t>
            </a:r>
            <a:r>
              <a:rPr lang="ro-RO" i="1" dirty="0"/>
              <a:t>Vizitatori</a:t>
            </a:r>
            <a:r>
              <a:rPr lang="ro-RO" dirty="0"/>
              <a:t> pentru care numele conține</a:t>
            </a:r>
            <a:r>
              <a:rPr lang="en-US" dirty="0"/>
              <a:t> ‘</a:t>
            </a:r>
            <a:r>
              <a:rPr lang="ro-RO" dirty="0"/>
              <a:t>an</a:t>
            </a:r>
            <a:r>
              <a:rPr lang="en-US" dirty="0"/>
              <a:t>a’</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r>
              <a:rPr lang="en-US" dirty="0" err="1"/>
              <a:t>Dac</a:t>
            </a:r>
            <a:r>
              <a:rPr lang="ro-RO" dirty="0"/>
              <a:t>ă dorim să returnăm toate înregistrările din tabelul </a:t>
            </a:r>
            <a:r>
              <a:rPr lang="ro-RO" i="1" dirty="0"/>
              <a:t>Vizitatori</a:t>
            </a:r>
            <a:r>
              <a:rPr lang="ro-RO" dirty="0"/>
              <a:t> pentru care numele se termină cu </a:t>
            </a:r>
            <a:r>
              <a:rPr lang="en-US" dirty="0"/>
              <a:t>‘</a:t>
            </a:r>
            <a:r>
              <a:rPr lang="en-US" dirty="0" err="1"/>
              <a:t>na</a:t>
            </a:r>
            <a:r>
              <a:rPr lang="en-US" dirty="0"/>
              <a:t>’ </a:t>
            </a:r>
            <a:r>
              <a:rPr lang="ro-RO" dirty="0"/>
              <a:t>și este format din 3 caractere,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_na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p>
          <a:p>
            <a:pPr marL="342900" indent="-342900"/>
            <a:r>
              <a:rPr lang="en-US" dirty="0">
                <a:solidFill>
                  <a:srgbClr val="FF0000">
                    <a:alpha val="60000"/>
                  </a:srgbClr>
                </a:solidFill>
              </a:rPr>
              <a:t>!!!</a:t>
            </a:r>
            <a:r>
              <a:rPr lang="ro-RO" dirty="0">
                <a:solidFill>
                  <a:srgbClr val="FF0000">
                    <a:alpha val="60000"/>
                  </a:srgbClr>
                </a:solidFill>
              </a:rPr>
              <a:t>Caracterul </a:t>
            </a:r>
            <a:r>
              <a:rPr lang="en-US" b="1" dirty="0">
                <a:solidFill>
                  <a:srgbClr val="FF0000">
                    <a:alpha val="60000"/>
                  </a:srgbClr>
                </a:solidFill>
              </a:rPr>
              <a:t>_</a:t>
            </a:r>
            <a:r>
              <a:rPr lang="en-US" dirty="0">
                <a:solidFill>
                  <a:srgbClr val="FF0000">
                    <a:alpha val="60000"/>
                  </a:srgbClr>
                </a:solidFill>
              </a:rPr>
              <a:t> </a:t>
            </a:r>
            <a:r>
              <a:rPr lang="ro-RO" dirty="0">
                <a:solidFill>
                  <a:srgbClr val="FF0000">
                    <a:alpha val="60000"/>
                  </a:srgbClr>
                </a:solidFill>
              </a:rPr>
              <a:t>înlocuiește un singur caracter</a:t>
            </a:r>
          </a:p>
          <a:p>
            <a:pPr marL="342900" indent="-342900"/>
            <a:r>
              <a:rPr lang="ro-RO" dirty="0">
                <a:solidFill>
                  <a:srgbClr val="FF0000">
                    <a:alpha val="60000"/>
                  </a:srgbClr>
                </a:solidFill>
              </a:rPr>
              <a:t>!!!Caracterul </a:t>
            </a:r>
            <a:r>
              <a:rPr lang="ro-RO" b="1" dirty="0">
                <a:solidFill>
                  <a:srgbClr val="FF0000">
                    <a:alpha val="60000"/>
                  </a:srgbClr>
                </a:solidFill>
              </a:rPr>
              <a:t>% </a:t>
            </a:r>
            <a:r>
              <a:rPr lang="ro-RO" dirty="0">
                <a:solidFill>
                  <a:srgbClr val="FF0000">
                    <a:alpha val="60000"/>
                  </a:srgbClr>
                </a:solidFill>
              </a:rPr>
              <a:t>înlocuiește zero sau mai multe caractere </a:t>
            </a:r>
          </a:p>
        </p:txBody>
      </p:sp>
    </p:spTree>
    <p:extLst>
      <p:ext uri="{BB962C8B-B14F-4D97-AF65-F5344CB8AC3E}">
        <p14:creationId xmlns:p14="http://schemas.microsoft.com/office/powerpoint/2010/main" val="6585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776786"/>
          </a:xfrm>
        </p:spPr>
        <p:txBody>
          <a:bodyPr/>
          <a:lstStyle/>
          <a:p>
            <a:r>
              <a:rPr lang="en-US" dirty="0" err="1"/>
              <a:t>Dac</a:t>
            </a:r>
            <a:r>
              <a:rPr lang="ro-RO" dirty="0"/>
              <a:t>ă dorim să returnăm toate înregistrările din tabelul </a:t>
            </a:r>
            <a:r>
              <a:rPr lang="ro-RO" i="1" dirty="0"/>
              <a:t>Vizitatori</a:t>
            </a:r>
            <a:r>
              <a:rPr lang="ro-RO" dirty="0"/>
              <a:t> pentru care numele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a:t>
            </a:r>
            <a:r>
              <a:rPr lang="en-US" dirty="0"/>
              <a:t> </a:t>
            </a:r>
            <a:r>
              <a:rPr lang="en-US" b="1" dirty="0"/>
              <a:t>nu</a:t>
            </a:r>
            <a:r>
              <a:rPr lang="ro-RO" dirty="0"/>
              <a:t>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364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B59E-1AAA-93FD-68D0-35A3E8567C70}"/>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ACC7704-D614-ABAC-2FD5-BF98444D4D83}"/>
              </a:ext>
            </a:extLst>
          </p:cNvPr>
          <p:cNvSpPr>
            <a:spLocks noGrp="1"/>
          </p:cNvSpPr>
          <p:nvPr>
            <p:ph idx="1"/>
          </p:nvPr>
        </p:nvSpPr>
        <p:spPr>
          <a:xfrm>
            <a:off x="1341120" y="1572768"/>
            <a:ext cx="10389062" cy="4142232"/>
          </a:xfrm>
        </p:spPr>
        <p:txBody>
          <a:bodyPr/>
          <a:lstStyle/>
          <a:p>
            <a:pPr marL="502920" indent="-457200">
              <a:buFont typeface="+mj-lt"/>
              <a:buAutoNum type="arabicPeriod"/>
            </a:pPr>
            <a:r>
              <a:rPr lang="ro-RO" sz="2400" dirty="0"/>
              <a:t>Scrieți o interogare care afișează toate înregistrările din tabelul </a:t>
            </a:r>
            <a:r>
              <a:rPr lang="ro-RO" sz="2400" i="1" dirty="0"/>
              <a:t>Categorii</a:t>
            </a:r>
            <a:r>
              <a:rPr lang="ro-RO" sz="2400" dirty="0"/>
              <a:t> al căror nume este egal cu </a:t>
            </a:r>
            <a:r>
              <a:rPr lang="en-US" sz="2400" dirty="0"/>
              <a:t>‘</a:t>
            </a:r>
            <a:r>
              <a:rPr lang="en-US" sz="2400" dirty="0" err="1"/>
              <a:t>pensionari</a:t>
            </a:r>
            <a:r>
              <a:rPr lang="en-US" sz="2400" dirty="0"/>
              <a:t>’ </a:t>
            </a:r>
            <a:r>
              <a:rPr lang="en-US" sz="2400" dirty="0" err="1"/>
              <a:t>sau</a:t>
            </a:r>
            <a:r>
              <a:rPr lang="en-US" sz="2400" dirty="0"/>
              <a:t> ‘</a:t>
            </a:r>
            <a:r>
              <a:rPr lang="en-US" sz="2400" dirty="0" err="1"/>
              <a:t>copii</a:t>
            </a:r>
            <a:r>
              <a:rPr lang="en-US" sz="2400" dirty="0"/>
              <a:t>’</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începe cu litera C </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se termină cu litera n și au cel puțin două caractere</a:t>
            </a:r>
          </a:p>
          <a:p>
            <a:endParaRPr lang="ro-RO" dirty="0"/>
          </a:p>
        </p:txBody>
      </p:sp>
    </p:spTree>
    <p:extLst>
      <p:ext uri="{BB962C8B-B14F-4D97-AF65-F5344CB8AC3E}">
        <p14:creationId xmlns:p14="http://schemas.microsoft.com/office/powerpoint/2010/main" val="30889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92428"/>
          </a:xfrm>
        </p:spPr>
        <p:txBody>
          <a:bodyPr/>
          <a:lstStyle/>
          <a:p>
            <a:r>
              <a:rPr lang="en-US" dirty="0" err="1"/>
              <a:t>Dac</a:t>
            </a:r>
            <a:r>
              <a:rPr lang="ro-RO" dirty="0"/>
              <a:t>ă dorim să extragem toate înregistrările din tabelul </a:t>
            </a:r>
            <a:r>
              <a:rPr lang="ro-RO" i="1" dirty="0"/>
              <a:t>Vizitatori</a:t>
            </a:r>
            <a:r>
              <a:rPr lang="ro-RO" dirty="0"/>
              <a:t> pentru care coloana </a:t>
            </a:r>
            <a:r>
              <a:rPr lang="ro-RO" i="1" dirty="0"/>
              <a:t>email</a:t>
            </a:r>
            <a:r>
              <a:rPr lang="ro-RO" dirty="0"/>
              <a:t> are valoarea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NULL</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extragem toate înregistrările din tabelul </a:t>
            </a:r>
            <a:r>
              <a:rPr lang="ro-RO" i="1" dirty="0"/>
              <a:t>Vizitatori</a:t>
            </a:r>
            <a:r>
              <a:rPr lang="ro-RO" dirty="0"/>
              <a:t> pentru care coloana </a:t>
            </a:r>
            <a:r>
              <a:rPr lang="ro-RO" i="1" dirty="0"/>
              <a:t>email </a:t>
            </a:r>
            <a:r>
              <a:rPr lang="ro-RO" dirty="0"/>
              <a:t>are valoarea </a:t>
            </a:r>
            <a:r>
              <a:rPr lang="ro-RO" b="1" dirty="0"/>
              <a:t>diferită</a:t>
            </a:r>
            <a:r>
              <a:rPr lang="ro-RO" dirty="0"/>
              <a:t> de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NOT NULL</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57036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62289" cy="4981205"/>
          </a:xfrm>
        </p:spPr>
        <p:txBody>
          <a:bodyPr/>
          <a:lstStyle/>
          <a:p>
            <a:r>
              <a:rPr lang="ro-RO" dirty="0"/>
              <a:t>Dacă dorim să extragem numele categoriei, numele vizitatorului și adresa de email pentru toți vizitatorii care aparțin unei categorii, vom executa următoarea interogare:</a:t>
            </a:r>
            <a:endParaRPr lang="en-US" dirty="0"/>
          </a:p>
          <a:p>
            <a:pPr marL="0" indent="0">
              <a:buNone/>
            </a:pP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highlight>
                  <a:srgbClr val="FFFF00"/>
                </a:highlight>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highlight>
                  <a:srgbClr val="FFFF00"/>
                </a:highlight>
                <a:latin typeface="Consolas" panose="020B0609020204030204" pitchFamily="49" charset="0"/>
              </a:rPr>
              <a:t>C</a:t>
            </a:r>
            <a:r>
              <a:rPr lang="ro-RO" dirty="0">
                <a:latin typeface="Consolas" panose="020B0609020204030204" pitchFamily="49" charset="0"/>
              </a:rPr>
              <a:t>, </a:t>
            </a:r>
            <a:r>
              <a:rPr lang="en-US" dirty="0">
                <a:latin typeface="Consolas" panose="020B0609020204030204" pitchFamily="49" charset="0"/>
              </a:rPr>
              <a:t>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C.cod_c=V.cod_c</a:t>
            </a:r>
            <a:r>
              <a:rPr lang="en-US" dirty="0">
                <a:latin typeface="Consolas" panose="020B0609020204030204" pitchFamily="49" charset="0"/>
              </a:rPr>
              <a:t>;</a:t>
            </a:r>
            <a:r>
              <a:rPr lang="ro-RO" dirty="0">
                <a:latin typeface="Consolas" panose="020B0609020204030204" pitchFamily="49" charset="0"/>
              </a:rPr>
              <a:t>  </a:t>
            </a:r>
          </a:p>
          <a:p>
            <a:r>
              <a:rPr lang="ro-RO" dirty="0"/>
              <a:t>Interogarea poate fi rescrisă utilizând </a:t>
            </a:r>
            <a:r>
              <a:rPr lang="ro-RO" b="1" dirty="0"/>
              <a:t>INNER JOIN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a:t>
            </a: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43AFEF29-AD0B-1F66-39B0-42DE043E85FC}"/>
              </a:ext>
            </a:extLst>
          </p:cNvPr>
          <p:cNvCxnSpPr>
            <a:cxnSpLocks/>
          </p:cNvCxnSpPr>
          <p:nvPr/>
        </p:nvCxnSpPr>
        <p:spPr>
          <a:xfrm flipH="1">
            <a:off x="5093332" y="2696347"/>
            <a:ext cx="346230" cy="286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967124C-FC6A-D15C-C9E0-D281E4C16D69}"/>
              </a:ext>
            </a:extLst>
          </p:cNvPr>
          <p:cNvSpPr txBox="1"/>
          <p:nvPr/>
        </p:nvSpPr>
        <p:spPr>
          <a:xfrm>
            <a:off x="5266447" y="2398136"/>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en-US" dirty="0" err="1">
                <a:solidFill>
                  <a:srgbClr val="FF0000"/>
                </a:solidFill>
              </a:rPr>
              <a:t>coloan</a:t>
            </a:r>
            <a:r>
              <a:rPr lang="ro-RO" dirty="0">
                <a:solidFill>
                  <a:srgbClr val="FF0000"/>
                </a:solidFill>
              </a:rPr>
              <a:t>ă</a:t>
            </a:r>
          </a:p>
        </p:txBody>
      </p:sp>
      <p:cxnSp>
        <p:nvCxnSpPr>
          <p:cNvPr id="8" name="Straight Arrow Connector 7">
            <a:extLst>
              <a:ext uri="{FF2B5EF4-FFF2-40B4-BE49-F238E27FC236}">
                <a16:creationId xmlns:a16="http://schemas.microsoft.com/office/drawing/2014/main" id="{186679FA-860B-F4C7-7876-86C8F607B805}"/>
              </a:ext>
            </a:extLst>
          </p:cNvPr>
          <p:cNvCxnSpPr>
            <a:cxnSpLocks/>
          </p:cNvCxnSpPr>
          <p:nvPr/>
        </p:nvCxnSpPr>
        <p:spPr>
          <a:xfrm>
            <a:off x="9889725" y="2649236"/>
            <a:ext cx="338831" cy="27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8E6E1C-9772-E232-BED5-370FBF325649}"/>
              </a:ext>
            </a:extLst>
          </p:cNvPr>
          <p:cNvSpPr txBox="1"/>
          <p:nvPr/>
        </p:nvSpPr>
        <p:spPr>
          <a:xfrm>
            <a:off x="7954905" y="2407552"/>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ro-RO" dirty="0">
                <a:solidFill>
                  <a:srgbClr val="FF0000"/>
                </a:solidFill>
              </a:rPr>
              <a:t>tabel</a:t>
            </a:r>
          </a:p>
        </p:txBody>
      </p:sp>
    </p:spTree>
    <p:extLst>
      <p:ext uri="{BB962C8B-B14F-4D97-AF65-F5344CB8AC3E}">
        <p14:creationId xmlns:p14="http://schemas.microsoft.com/office/powerpoint/2010/main" val="195959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942188" cy="5172075"/>
          </a:xfrm>
        </p:spPr>
        <p:txBody>
          <a:bodyPr>
            <a:normAutofit/>
          </a:bodyPr>
          <a:lstStyle/>
          <a:p>
            <a:r>
              <a:rPr lang="en-US" dirty="0" err="1"/>
              <a:t>Dac</a:t>
            </a:r>
            <a:r>
              <a:rPr lang="ro-RO" dirty="0"/>
              <a:t>ă dorim să afișăm numele categoriilor și adresa de email a vizitatorilor, </a:t>
            </a:r>
            <a:r>
              <a:rPr lang="ro-RO" b="1" dirty="0"/>
              <a:t>incluzând și categoriile care nu au vizitatori asociați</a:t>
            </a:r>
            <a:r>
              <a:rPr lang="ro-RO" dirty="0"/>
              <a:t> (dar </a:t>
            </a:r>
            <a:r>
              <a:rPr lang="ro-RO" b="1" dirty="0"/>
              <a:t>nu</a:t>
            </a:r>
            <a:r>
              <a:rPr lang="ro-RO" dirty="0"/>
              <a:t> și vizitatorii care nu aparțin unei categorii),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adresa de email a vizitatorilor, </a:t>
            </a:r>
            <a:r>
              <a:rPr lang="ro-RO" b="1" dirty="0"/>
              <a:t>incluzând și vizitatorii care nu aparțin unei categorii</a:t>
            </a:r>
            <a:r>
              <a:rPr lang="ro-RO" dirty="0"/>
              <a:t> (dar </a:t>
            </a:r>
            <a:r>
              <a:rPr lang="ro-RO" b="1" dirty="0"/>
              <a:t>nu</a:t>
            </a:r>
            <a:r>
              <a:rPr lang="ro-RO" dirty="0"/>
              <a:t> și categoriile care nu au vizitatori asociați),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RIGHT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86697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507183" cy="4679364"/>
          </a:xfrm>
        </p:spPr>
        <p:txBody>
          <a:bodyPr/>
          <a:lstStyle/>
          <a:p>
            <a:r>
              <a:rPr lang="en-US" dirty="0" err="1"/>
              <a:t>Dac</a:t>
            </a:r>
            <a:r>
              <a:rPr lang="ro-RO" dirty="0"/>
              <a:t>ă dorim să afișăm numele categoriilor și adresa de email a vizitatorilor, </a:t>
            </a:r>
            <a:r>
              <a:rPr lang="ro-RO" b="1" dirty="0"/>
              <a:t>incluzând atât vizitatorii care nu aparțin unei categorii, cât</a:t>
            </a:r>
            <a:r>
              <a:rPr lang="ro-RO" dirty="0"/>
              <a:t> </a:t>
            </a:r>
            <a:r>
              <a:rPr lang="ro-RO" b="1" dirty="0"/>
              <a:t>și categoriile care nu au vizitatori asociați</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FULL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7534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98960"/>
          </a:xfrm>
        </p:spPr>
        <p:txBody>
          <a:bodyPr/>
          <a:lstStyle/>
          <a:p>
            <a:r>
              <a:rPr lang="ro-RO" dirty="0"/>
              <a:t>Dacă dorim să realizăm un calcul pe o mulțime de valori și să returnăm o singură valoare, vom utiliza </a:t>
            </a:r>
            <a:r>
              <a:rPr lang="ro-RO" b="1" dirty="0"/>
              <a:t>funcții de agregare</a:t>
            </a:r>
          </a:p>
          <a:p>
            <a:r>
              <a:rPr lang="ro-RO" dirty="0"/>
              <a:t>Funcțiile de agregare se utilizează de obicei împreună cu clauzele </a:t>
            </a:r>
            <a:r>
              <a:rPr lang="ro-RO" b="1" dirty="0"/>
              <a:t>GROUP BY </a:t>
            </a:r>
            <a:r>
              <a:rPr lang="ro-RO" dirty="0"/>
              <a:t>și </a:t>
            </a:r>
            <a:r>
              <a:rPr lang="ro-RO" b="1" dirty="0"/>
              <a:t>HAVING </a:t>
            </a:r>
          </a:p>
          <a:p>
            <a:r>
              <a:rPr lang="ro-RO" dirty="0"/>
              <a:t>Exemple de funcții de agregare: </a:t>
            </a:r>
            <a:r>
              <a:rPr lang="ro-RO" b="1" dirty="0"/>
              <a:t>COUNT()</a:t>
            </a:r>
            <a:r>
              <a:rPr lang="ro-RO" dirty="0"/>
              <a:t>, </a:t>
            </a:r>
            <a:r>
              <a:rPr lang="ro-RO" b="1" dirty="0"/>
              <a:t>SUM()</a:t>
            </a:r>
            <a:r>
              <a:rPr lang="ro-RO" dirty="0"/>
              <a:t>, </a:t>
            </a:r>
            <a:r>
              <a:rPr lang="ro-RO" b="1" dirty="0"/>
              <a:t>AVG()</a:t>
            </a:r>
            <a:r>
              <a:rPr lang="ro-RO" dirty="0"/>
              <a:t>, </a:t>
            </a:r>
            <a:r>
              <a:rPr lang="ro-RO" b="1" dirty="0"/>
              <a:t>MIN()</a:t>
            </a:r>
            <a:r>
              <a:rPr lang="ro-RO" dirty="0"/>
              <a:t>, </a:t>
            </a:r>
            <a:r>
              <a:rPr lang="ro-RO" b="1" dirty="0"/>
              <a:t>MAX()</a:t>
            </a:r>
          </a:p>
          <a:p>
            <a:r>
              <a:rPr lang="ro-RO" dirty="0"/>
              <a:t>Dacă dorim să returnăm numărul total de înregistrări din tabelul </a:t>
            </a:r>
            <a:r>
              <a:rPr lang="ro-RO" i="1" dirty="0"/>
              <a:t>Categorii</a:t>
            </a:r>
            <a:r>
              <a:rPr lang="ro-RO" dirty="0"/>
              <a:t>, vom executa următoarea interogare: </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solidFill>
                  <a:srgbClr val="FF00FF"/>
                </a:solidFill>
                <a:latin typeface="Consolas" panose="020B0609020204030204" pitchFamily="49" charset="0"/>
              </a:rPr>
              <a:t>COUNT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380485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74673"/>
          </a:xfrm>
        </p:spPr>
        <p:txBody>
          <a:bodyPr/>
          <a:lstStyle/>
          <a:p>
            <a:r>
              <a:rPr lang="en-US" dirty="0" err="1"/>
              <a:t>Dac</a:t>
            </a:r>
            <a:r>
              <a:rPr lang="ro-RO" dirty="0"/>
              <a:t>ă dorim să afișăm numele categoriilor și numărul de vizitatori pentru fiecare categorie care are </a:t>
            </a:r>
            <a:r>
              <a:rPr lang="ro-RO" b="1" dirty="0"/>
              <a:t>cel puțin un vizitator</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 </a:t>
            </a:r>
            <a:r>
              <a:rPr lang="ro-RO" dirty="0">
                <a:latin typeface="Consolas" panose="020B0609020204030204" pitchFamily="49" charset="0"/>
              </a:rPr>
              <a:t>C.cod_c, C.nume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numărul de vizitatori pentru fiecare categorie,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C.cod_c, C.nume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17250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809024" cy="5172075"/>
          </a:xfrm>
        </p:spPr>
        <p:txBody>
          <a:bodyPr/>
          <a:lstStyle/>
          <a:p>
            <a:r>
              <a:rPr lang="ro-RO" dirty="0"/>
              <a:t>Dacă dorim să afișăm numele atracției și media aritmetică a notelor primite pentru toate atracțiile care au primit note,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atracției și media aritmetică a notelor primite pentru toate atracțiile care au primit note și au media </a:t>
            </a:r>
            <a:r>
              <a:rPr lang="en-US" dirty="0" err="1"/>
              <a:t>ar</a:t>
            </a:r>
            <a:r>
              <a:rPr lang="ro-RO" dirty="0"/>
              <a:t>i</a:t>
            </a:r>
            <a:r>
              <a:rPr lang="en-US" dirty="0" err="1"/>
              <a:t>tmetic</a:t>
            </a:r>
            <a:r>
              <a:rPr lang="ro-RO" dirty="0"/>
              <a:t>ă strict mai mare decât 9,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 </a:t>
            </a:r>
            <a:r>
              <a:rPr lang="ro-RO" dirty="0">
                <a:solidFill>
                  <a:srgbClr val="0000FF">
                    <a:alpha val="60000"/>
                  </a:srgbClr>
                </a:solidFill>
                <a:latin typeface="Consolas" panose="020B0609020204030204" pitchFamily="49" charset="0"/>
              </a:rPr>
              <a:t>HAVING</a:t>
            </a:r>
            <a:r>
              <a:rPr lang="en-US" dirty="0">
                <a:latin typeface="Consolas" panose="020B0609020204030204" pitchFamily="49" charset="0"/>
              </a:rPr>
              <a:t> </a:t>
            </a:r>
            <a:r>
              <a:rPr lang="ro-RO" dirty="0">
                <a:solidFill>
                  <a:srgbClr val="FF00FF"/>
                </a:solidFill>
                <a:latin typeface="Consolas" panose="020B0609020204030204" pitchFamily="49" charset="0"/>
              </a:rPr>
              <a:t>AVG</a:t>
            </a:r>
            <a:r>
              <a:rPr lang="ro-RO" dirty="0">
                <a:latin typeface="Consolas" panose="020B0609020204030204" pitchFamily="49" charset="0"/>
              </a:rPr>
              <a:t>(nota)</a:t>
            </a:r>
            <a:r>
              <a:rPr lang="en-US" dirty="0">
                <a:latin typeface="Consolas" panose="020B0609020204030204" pitchFamily="49" charset="0"/>
              </a:rPr>
              <a:t>&gt;9;</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1537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O subinterogare este o interogare încorporată într-o altă interogare</a:t>
            </a:r>
          </a:p>
          <a:p>
            <a:r>
              <a:rPr lang="ro-RO" dirty="0"/>
              <a:t>Se poate folosi o subinterogare în clauza </a:t>
            </a:r>
            <a:r>
              <a:rPr lang="ro-RO" b="1" dirty="0"/>
              <a:t>WHERE</a:t>
            </a:r>
            <a:r>
              <a:rPr lang="ro-RO" dirty="0"/>
              <a:t> pentru a găsi înregistrările dintr-un tabel care se potrivesc cu înregistrările din alt tabel </a:t>
            </a:r>
            <a:r>
              <a:rPr lang="ro-RO" b="1" dirty="0"/>
              <a:t>fără </a:t>
            </a:r>
            <a:r>
              <a:rPr lang="ro-RO" dirty="0"/>
              <a:t>a folosi </a:t>
            </a:r>
            <a:r>
              <a:rPr lang="ro-RO" b="1" dirty="0"/>
              <a:t>JOIN  </a:t>
            </a:r>
          </a:p>
          <a:p>
            <a:r>
              <a:rPr lang="ro-RO" dirty="0"/>
              <a:t>Dacă dorim să afișăm numele tuturor categoriilor care au cel puțin 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p>
          <a:p>
            <a:pPr marL="0" indent="0">
              <a:buNone/>
            </a:pP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a:t>
            </a:r>
            <a:r>
              <a:rPr lang="en-US" dirty="0">
                <a:latin typeface="Consolas" panose="020B0609020204030204" pitchFamily="49" charset="0"/>
              </a:rPr>
              <a:t>;</a:t>
            </a:r>
          </a:p>
          <a:p>
            <a:endParaRPr lang="ro-RO" b="1" dirty="0"/>
          </a:p>
        </p:txBody>
      </p:sp>
    </p:spTree>
    <p:extLst>
      <p:ext uri="{BB962C8B-B14F-4D97-AF65-F5344CB8AC3E}">
        <p14:creationId xmlns:p14="http://schemas.microsoft.com/office/powerpoint/2010/main" val="87432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Dacă dorim, putem rescrie interogarea folosind </a:t>
            </a:r>
            <a:r>
              <a:rPr lang="en-US" b="1" dirty="0"/>
              <a:t>INNER </a:t>
            </a:r>
            <a:r>
              <a:rPr lang="ro-RO" b="1" dirty="0"/>
              <a:t>JOIN</a:t>
            </a:r>
            <a:r>
              <a:rPr lang="ro-RO" dirty="0"/>
              <a:t>:</a:t>
            </a:r>
          </a:p>
          <a:p>
            <a:pPr marL="0" indent="0">
              <a:buNone/>
            </a:pPr>
            <a:r>
              <a:rPr lang="ro-RO" dirty="0">
                <a:solidFill>
                  <a:srgbClr val="0000FF">
                    <a:alpha val="60000"/>
                  </a:srgbClr>
                </a:solidFill>
                <a:latin typeface="Consolas" panose="020B0609020204030204" pitchFamily="49" charset="0"/>
              </a:rPr>
              <a:t>	SELECT DISTINCT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ro-RO" dirty="0"/>
              <a:t>Putem rescrie interogarea folosind operatorul </a:t>
            </a:r>
            <a:r>
              <a:rPr lang="ro-RO" b="1" dirty="0"/>
              <a:t>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p>
          <a:p>
            <a:pPr marL="0" indent="0">
              <a:buNone/>
            </a:pPr>
            <a:r>
              <a:rPr lang="ro-RO" dirty="0">
                <a:solidFill>
                  <a:srgbClr val="0000FF">
                    <a:alpha val="60000"/>
                  </a:srgbClr>
                </a:solidFill>
                <a:latin typeface="Consolas" panose="020B0609020204030204" pitchFamily="49" charset="0"/>
              </a:rPr>
              <a:t>	WHERE EXISTS</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pPr marL="342900" indent="-342900"/>
            <a:r>
              <a:rPr lang="en-US" dirty="0">
                <a:solidFill>
                  <a:srgbClr val="FF0000">
                    <a:alpha val="60000"/>
                  </a:srgbClr>
                </a:solidFill>
              </a:rPr>
              <a:t>!!!</a:t>
            </a:r>
            <a:r>
              <a:rPr lang="en-US" dirty="0" err="1">
                <a:solidFill>
                  <a:srgbClr val="FF0000">
                    <a:alpha val="60000"/>
                  </a:srgbClr>
                </a:solidFill>
              </a:rPr>
              <a:t>Operatorul</a:t>
            </a:r>
            <a:r>
              <a:rPr lang="en-US" dirty="0">
                <a:solidFill>
                  <a:srgbClr val="FF0000">
                    <a:alpha val="60000"/>
                  </a:srgbClr>
                </a:solidFill>
              </a:rPr>
              <a:t> </a:t>
            </a:r>
            <a:r>
              <a:rPr lang="en-US" b="1" dirty="0">
                <a:solidFill>
                  <a:srgbClr val="FF0000">
                    <a:alpha val="60000"/>
                  </a:srgbClr>
                </a:solidFill>
              </a:rPr>
              <a:t>EXISTS</a:t>
            </a:r>
            <a:r>
              <a:rPr lang="en-US" dirty="0">
                <a:solidFill>
                  <a:srgbClr val="FF0000">
                    <a:alpha val="60000"/>
                  </a:srgbClr>
                </a:solidFill>
              </a:rPr>
              <a:t> </a:t>
            </a:r>
            <a:r>
              <a:rPr lang="en-US" dirty="0" err="1">
                <a:solidFill>
                  <a:srgbClr val="FF0000">
                    <a:alpha val="60000"/>
                  </a:srgbClr>
                </a:solidFill>
              </a:rPr>
              <a:t>returneaz</a:t>
            </a:r>
            <a:r>
              <a:rPr lang="ro-RO" dirty="0">
                <a:solidFill>
                  <a:srgbClr val="FF0000">
                    <a:alpha val="60000"/>
                  </a:srgbClr>
                </a:solidFill>
              </a:rPr>
              <a:t>ă valoarea </a:t>
            </a:r>
            <a:r>
              <a:rPr lang="ro-RO" b="1" dirty="0">
                <a:solidFill>
                  <a:srgbClr val="FF0000">
                    <a:alpha val="60000"/>
                  </a:srgbClr>
                </a:solidFill>
              </a:rPr>
              <a:t>TRUE</a:t>
            </a:r>
            <a:r>
              <a:rPr lang="ro-RO" dirty="0">
                <a:solidFill>
                  <a:srgbClr val="FF0000">
                    <a:alpha val="60000"/>
                  </a:srgbClr>
                </a:solidFill>
              </a:rPr>
              <a:t> dacă rezultatul subinterogării conține cel puțin o înregistrare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09510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Subinterogări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773513" cy="4776786"/>
          </a:xfrm>
        </p:spPr>
        <p:txBody>
          <a:bodyPr/>
          <a:lstStyle/>
          <a:p>
            <a:r>
              <a:rPr lang="ro-RO" dirty="0"/>
              <a:t>O subinterogare în clauza </a:t>
            </a:r>
            <a:r>
              <a:rPr lang="ro-RO" b="1" dirty="0"/>
              <a:t>WHERE</a:t>
            </a:r>
            <a:r>
              <a:rPr lang="ro-RO" dirty="0"/>
              <a:t> poate fi folosită și pentru a găsi înregistrările din primul tabel care </a:t>
            </a:r>
            <a:r>
              <a:rPr lang="ro-RO" b="1" dirty="0"/>
              <a:t>nu</a:t>
            </a:r>
            <a:r>
              <a:rPr lang="ro-RO" dirty="0"/>
              <a:t> au potriviri în cel de-al doilea tabel</a:t>
            </a:r>
          </a:p>
          <a:p>
            <a:r>
              <a:rPr lang="ro-RO" dirty="0"/>
              <a:t>Dacă dorim să afișăm numele tuturor categoriilor care </a:t>
            </a:r>
            <a:r>
              <a:rPr lang="ro-RO" b="1" dirty="0"/>
              <a:t>nu </a:t>
            </a:r>
            <a:r>
              <a:rPr lang="ro-RO" dirty="0"/>
              <a:t>au niciun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NOT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cod_c </a:t>
            </a:r>
            <a:r>
              <a:rPr lang="ro-RO" dirty="0">
                <a:solidFill>
                  <a:srgbClr val="0000FF">
                    <a:alpha val="60000"/>
                  </a:srgbClr>
                </a:solidFill>
                <a:latin typeface="Consolas" panose="020B0609020204030204" pitchFamily="49" charset="0"/>
              </a:rPr>
              <a:t>IS NOT NULL</a:t>
            </a:r>
            <a:r>
              <a:rPr lang="ro-RO" dirty="0">
                <a:latin typeface="Consolas" panose="020B0609020204030204" pitchFamily="49" charset="0"/>
              </a:rPr>
              <a:t>)</a:t>
            </a:r>
            <a:r>
              <a:rPr lang="en-US" dirty="0">
                <a:latin typeface="Consolas" panose="020B0609020204030204" pitchFamily="49" charset="0"/>
              </a:rPr>
              <a:t>;</a:t>
            </a:r>
          </a:p>
          <a:p>
            <a:r>
              <a:rPr lang="en-US" dirty="0" err="1"/>
              <a:t>Dac</a:t>
            </a:r>
            <a:r>
              <a:rPr lang="ro-RO" dirty="0"/>
              <a:t>ă dorim, putem rescrie interogarea folosind operatorul </a:t>
            </a:r>
            <a:r>
              <a:rPr lang="ro-RO" b="1" dirty="0"/>
              <a:t>NOT 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WHERE NOT EXISTS</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53992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A156-C64A-FA33-8638-41BC42A2DFEB}"/>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FFFD31C-D39A-F84D-DEFF-6EAA72B64167}"/>
              </a:ext>
            </a:extLst>
          </p:cNvPr>
          <p:cNvSpPr>
            <a:spLocks noGrp="1"/>
          </p:cNvSpPr>
          <p:nvPr>
            <p:ph idx="1"/>
          </p:nvPr>
        </p:nvSpPr>
        <p:spPr>
          <a:xfrm>
            <a:off x="1341119" y="1572768"/>
            <a:ext cx="10426007" cy="4781850"/>
          </a:xfrm>
        </p:spPr>
        <p:txBody>
          <a:bodyPr/>
          <a:lstStyle/>
          <a:p>
            <a:pPr marL="502920" indent="-457200">
              <a:buFont typeface="+mj-lt"/>
              <a:buAutoNum type="arabicPeriod"/>
            </a:pPr>
            <a:r>
              <a:rPr lang="ro-RO" sz="2400" dirty="0"/>
              <a:t>Scrieți o interogare care afișează toți vizitatorii care nu au dat nicio notă niciunei atracții</a:t>
            </a:r>
          </a:p>
          <a:p>
            <a:pPr marL="502920" indent="-457200">
              <a:buFont typeface="+mj-lt"/>
              <a:buAutoNum type="arabicPeriod"/>
            </a:pPr>
            <a:r>
              <a:rPr lang="ro-RO" sz="2400" dirty="0"/>
              <a:t>Scrieți o interogare care afișează numele vizitatorilor, nota și numele atracției </a:t>
            </a:r>
            <a:r>
              <a:rPr lang="en-US" sz="2400" dirty="0"/>
              <a:t>evaluate</a:t>
            </a:r>
            <a:endParaRPr lang="ro-RO" sz="2400" dirty="0"/>
          </a:p>
          <a:p>
            <a:pPr marL="502920" indent="-457200">
              <a:buFont typeface="+mj-lt"/>
              <a:buAutoNum type="arabicPeriod"/>
            </a:pPr>
            <a:r>
              <a:rPr lang="ro-RO" sz="2400" dirty="0"/>
              <a:t>Scrieți o interogare care afișează numele vizitatorilor și numărul de note pe care l-au dat atracțiilor (se vor include și numele vizitatorilor care nu au dat nicio notă) </a:t>
            </a:r>
          </a:p>
          <a:p>
            <a:pPr marL="502920" indent="-457200">
              <a:buFont typeface="+mj-lt"/>
              <a:buAutoNum type="arabicPeriod"/>
            </a:pPr>
            <a:r>
              <a:rPr lang="ro-RO" sz="2400" dirty="0"/>
              <a:t>Scrieți o interogare care afișează valorile distincte ale notelor date atracțiilor</a:t>
            </a:r>
          </a:p>
          <a:p>
            <a:endParaRPr lang="ro-RO" dirty="0"/>
          </a:p>
        </p:txBody>
      </p:sp>
    </p:spTree>
    <p:extLst>
      <p:ext uri="{BB962C8B-B14F-4D97-AF65-F5344CB8AC3E}">
        <p14:creationId xmlns:p14="http://schemas.microsoft.com/office/powerpoint/2010/main" val="11242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au primit </a:t>
            </a:r>
            <a:r>
              <a:rPr lang="ro-RO" b="1" dirty="0"/>
              <a:t>cel puțin o dată </a:t>
            </a:r>
            <a:r>
              <a:rPr lang="ro-RO" dirty="0"/>
              <a:t>nota 9,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 </a:t>
            </a:r>
            <a:r>
              <a:rPr lang="ro-RO" dirty="0">
                <a:solidFill>
                  <a:srgbClr val="0000FF">
                    <a:alpha val="60000"/>
                  </a:srgbClr>
                </a:solidFill>
                <a:latin typeface="Consolas" panose="020B0609020204030204" pitchFamily="49" charset="0"/>
              </a:rPr>
              <a:t>ANY</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11225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t>
            </a:r>
            <a:r>
              <a:rPr lang="en-US" b="1" dirty="0"/>
              <a:t>nu</a:t>
            </a:r>
            <a:r>
              <a:rPr lang="en-US" dirty="0"/>
              <a:t> au </a:t>
            </a:r>
            <a:r>
              <a:rPr lang="en-US" dirty="0" err="1"/>
              <a:t>primit</a:t>
            </a:r>
            <a:r>
              <a:rPr lang="en-US" dirty="0"/>
              <a:t> nota 9</a:t>
            </a:r>
            <a:r>
              <a:rPr lang="ro-RO" dirty="0"/>
              <a:t> (dar au primit cel puțin o notă):</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en-US" dirty="0">
                <a:latin typeface="Consolas" panose="020B0609020204030204" pitchFamily="49" charset="0"/>
              </a:rPr>
              <a:t>&lt;&gt;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ALL</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NOT</a:t>
            </a:r>
            <a:r>
              <a:rPr lang="ro-RO" dirty="0"/>
              <a:t>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29254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8ED9A-E39F-D722-8B42-E4AB75EAC912}"/>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3BE2AB-4AA8-9949-B0FE-CD6A4E1CDD8C}"/>
              </a:ext>
            </a:extLst>
          </p:cNvPr>
          <p:cNvSpPr>
            <a:spLocks noGrp="1"/>
          </p:cNvSpPr>
          <p:nvPr>
            <p:ph idx="1"/>
          </p:nvPr>
        </p:nvSpPr>
        <p:spPr>
          <a:xfrm>
            <a:off x="989400" y="1685925"/>
            <a:ext cx="10684736" cy="4874673"/>
          </a:xfrm>
        </p:spPr>
        <p:txBody>
          <a:bodyPr>
            <a:normAutofit/>
          </a:bodyPr>
          <a:lstStyle/>
          <a:p>
            <a:pPr marL="502920" indent="-457200">
              <a:buFont typeface="+mj-lt"/>
              <a:buAutoNum type="arabicPeriod"/>
            </a:pPr>
            <a:r>
              <a:rPr lang="ro-RO" sz="2400" dirty="0"/>
              <a:t>Scrieți o interogare care afișează numele secțiunii, numele și descrierea atracțiilor pentru toate secțiunile care au cel puțin o atracție asociată (se vor include și atracțiile care nu au o secțiune asociată)</a:t>
            </a:r>
          </a:p>
          <a:p>
            <a:pPr marL="502920" indent="-457200">
              <a:buFont typeface="+mj-lt"/>
              <a:buAutoNum type="arabicPeriod"/>
            </a:pPr>
            <a:r>
              <a:rPr lang="ro-RO" sz="2400" dirty="0"/>
              <a:t>Scrieți o interogare care afișează numele și vârsta minimă recomandată a atracției și numărul de note primite pentru toate atracțiile care au primit cel puțin 2 note</a:t>
            </a:r>
          </a:p>
          <a:p>
            <a:pPr marL="502920" indent="-457200">
              <a:buFont typeface="+mj-lt"/>
              <a:buAutoNum type="arabicPeriod"/>
            </a:pPr>
            <a:r>
              <a:rPr lang="ro-RO" sz="2400" dirty="0"/>
              <a:t>Scrieți o interogare care afișează numele categoriei, numele vizitatorului, nota, numele și descrierea atracției pentru toate categoriile care au numele diferit de </a:t>
            </a:r>
            <a:r>
              <a:rPr lang="en-US" sz="2400" dirty="0"/>
              <a:t>‘adult’ </a:t>
            </a:r>
            <a:r>
              <a:rPr lang="ro-RO" sz="2400" dirty="0"/>
              <a:t>și au vizitatori asociați care au dat cel puțin o notă unei atracții  </a:t>
            </a:r>
          </a:p>
        </p:txBody>
      </p:sp>
    </p:spTree>
    <p:extLst>
      <p:ext uri="{BB962C8B-B14F-4D97-AF65-F5344CB8AC3E}">
        <p14:creationId xmlns:p14="http://schemas.microsoft.com/office/powerpoint/2010/main" val="68693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622592" cy="4945694"/>
          </a:xfrm>
        </p:spPr>
        <p:txBody>
          <a:bodyPr/>
          <a:lstStyle/>
          <a:p>
            <a:r>
              <a:rPr lang="ro-RO" dirty="0"/>
              <a:t>Dacă dorim să afișăm numele atracțiilor care </a:t>
            </a:r>
            <a:r>
              <a:rPr lang="en-US" b="1" dirty="0"/>
              <a:t>nu</a:t>
            </a:r>
            <a:r>
              <a:rPr lang="en-US" dirty="0"/>
              <a:t> au </a:t>
            </a:r>
            <a:r>
              <a:rPr lang="en-US" dirty="0" err="1"/>
              <a:t>primit</a:t>
            </a:r>
            <a:r>
              <a:rPr lang="en-US" dirty="0"/>
              <a:t> </a:t>
            </a:r>
            <a:r>
              <a:rPr lang="en-US" b="1" dirty="0" err="1"/>
              <a:t>niciodat</a:t>
            </a:r>
            <a:r>
              <a:rPr lang="ro-RO" b="1" dirty="0"/>
              <a:t>ă</a:t>
            </a:r>
            <a:r>
              <a:rPr lang="ro-RO" dirty="0"/>
              <a:t> </a:t>
            </a:r>
            <a:r>
              <a:rPr lang="en-US" dirty="0"/>
              <a:t>nota 9, </a:t>
            </a:r>
            <a:r>
              <a:rPr lang="ro-RO" dirty="0"/>
              <a:t>dar au primit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EXCEPT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p:txBody>
      </p:sp>
    </p:spTree>
    <p:extLst>
      <p:ext uri="{BB962C8B-B14F-4D97-AF65-F5344CB8AC3E}">
        <p14:creationId xmlns:p14="http://schemas.microsoft.com/office/powerpoint/2010/main" val="288215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498305" cy="5016717"/>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sau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UNION</a:t>
            </a:r>
            <a:r>
              <a:rPr lang="en-US" dirty="0">
                <a:solidFill>
                  <a:srgbClr val="0000FF">
                    <a:alpha val="60000"/>
                  </a:srgbClr>
                </a:solidFill>
                <a:latin typeface="Consolas" panose="020B0609020204030204" pitchFamily="49" charset="0"/>
              </a:rPr>
              <a:t> [ALL]</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 </a:t>
            </a:r>
          </a:p>
          <a:p>
            <a:pPr marL="0" indent="0">
              <a:lnSpc>
                <a:spcPct val="100000"/>
              </a:lnSpc>
              <a:buNone/>
            </a:pPr>
            <a:endParaRPr lang="ro-RO" dirty="0">
              <a:solidFill>
                <a:srgbClr val="FF0000">
                  <a:alpha val="60000"/>
                </a:srgbClr>
              </a:solidFill>
            </a:endParaRPr>
          </a:p>
          <a:p>
            <a:pPr>
              <a:lnSpc>
                <a:spcPct val="100000"/>
              </a:lnSpc>
            </a:pPr>
            <a:r>
              <a:rPr lang="en-US" dirty="0">
                <a:solidFill>
                  <a:srgbClr val="FF0000">
                    <a:alpha val="60000"/>
                  </a:srgbClr>
                </a:solidFill>
              </a:rPr>
              <a:t>!!!</a:t>
            </a:r>
            <a:r>
              <a:rPr lang="en-US" b="1" dirty="0">
                <a:solidFill>
                  <a:srgbClr val="FF0000">
                    <a:alpha val="60000"/>
                  </a:srgbClr>
                </a:solidFill>
              </a:rPr>
              <a:t>UNION ALL </a:t>
            </a:r>
            <a:r>
              <a:rPr lang="en-US" dirty="0">
                <a:solidFill>
                  <a:srgbClr val="FF0000">
                    <a:alpha val="60000"/>
                  </a:srgbClr>
                </a:solidFill>
              </a:rPr>
              <a:t>include </a:t>
            </a:r>
            <a:r>
              <a:rPr lang="ro-RO" dirty="0">
                <a:solidFill>
                  <a:srgbClr val="FF0000">
                    <a:alpha val="60000"/>
                  </a:srgbClr>
                </a:solidFill>
              </a:rPr>
              <a:t>înregistrări duplicate</a:t>
            </a:r>
            <a:r>
              <a:rPr lang="en-US" dirty="0">
                <a:solidFill>
                  <a:srgbClr val="FF0000">
                    <a:alpha val="60000"/>
                  </a:srgbClr>
                </a:solidFill>
              </a:rPr>
              <a:t>;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nu</a:t>
            </a:r>
            <a:r>
              <a:rPr lang="ro-RO" dirty="0">
                <a:solidFill>
                  <a:srgbClr val="FF0000">
                    <a:alpha val="60000"/>
                  </a:srgbClr>
                </a:solidFill>
              </a:rPr>
              <a:t> include înregistrări duplicate</a:t>
            </a:r>
          </a:p>
        </p:txBody>
      </p:sp>
    </p:spTree>
    <p:extLst>
      <p:ext uri="{BB962C8B-B14F-4D97-AF65-F5344CB8AC3E}">
        <p14:creationId xmlns:p14="http://schemas.microsoft.com/office/powerpoint/2010/main" val="363763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622592" cy="5172075"/>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și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INTERSECT</a:t>
            </a:r>
            <a:endParaRPr lang="en-US" dirty="0">
              <a:solidFill>
                <a:srgbClr val="0000FF">
                  <a:alpha val="60000"/>
                </a:srgbClr>
              </a:solidFill>
              <a:latin typeface="Consolas" panose="020B0609020204030204" pitchFamily="49" charset="0"/>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a:p>
            <a:r>
              <a:rPr lang="ro-RO" dirty="0">
                <a:solidFill>
                  <a:srgbClr val="FF0000">
                    <a:alpha val="60000"/>
                  </a:srgbClr>
                </a:solidFill>
              </a:rPr>
              <a:t>!!!Cu ajutorul operatorilor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INTERSECT</a:t>
            </a:r>
            <a:r>
              <a:rPr lang="ro-RO" dirty="0">
                <a:solidFill>
                  <a:srgbClr val="FF0000">
                    <a:alpha val="60000"/>
                  </a:srgbClr>
                </a:solidFill>
              </a:rPr>
              <a:t> și </a:t>
            </a:r>
            <a:r>
              <a:rPr lang="ro-RO" b="1" dirty="0">
                <a:solidFill>
                  <a:srgbClr val="FF0000">
                    <a:alpha val="60000"/>
                  </a:srgbClr>
                </a:solidFill>
              </a:rPr>
              <a:t>EXCEPT</a:t>
            </a:r>
            <a:r>
              <a:rPr lang="ro-RO" dirty="0">
                <a:solidFill>
                  <a:srgbClr val="FF0000">
                    <a:alpha val="60000"/>
                  </a:srgbClr>
                </a:solidFill>
              </a:rPr>
              <a:t> se pot îmbina rezultatele a două sau mai multe interogări într-un singur </a:t>
            </a:r>
            <a:r>
              <a:rPr lang="ro-RO" i="1" dirty="0">
                <a:solidFill>
                  <a:srgbClr val="FF0000">
                    <a:alpha val="60000"/>
                  </a:srgbClr>
                </a:solidFill>
              </a:rPr>
              <a:t>result-set</a:t>
            </a:r>
            <a:r>
              <a:rPr lang="ro-RO" dirty="0">
                <a:solidFill>
                  <a:srgbClr val="FF0000">
                    <a:alpha val="60000"/>
                  </a:srgbClr>
                </a:solidFill>
              </a:rPr>
              <a:t> (fiecare interogare trebuie să conțină același număr de coloane, iar tipurile coloanelor trebuie să fie compatibile)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64421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2317-7EFA-8057-7135-6EED41E9ACED}"/>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1891A031-DB30-3676-C77B-ED7A9453E08E}"/>
              </a:ext>
            </a:extLst>
          </p:cNvPr>
          <p:cNvSpPr>
            <a:spLocks noGrp="1"/>
          </p:cNvSpPr>
          <p:nvPr>
            <p:ph idx="1"/>
          </p:nvPr>
        </p:nvSpPr>
        <p:spPr>
          <a:xfrm>
            <a:off x="989399" y="1685925"/>
            <a:ext cx="10755757" cy="4972327"/>
          </a:xfrm>
        </p:spPr>
        <p:txBody>
          <a:bodyPr>
            <a:normAutofit/>
          </a:bodyPr>
          <a:lstStyle/>
          <a:p>
            <a:pPr marL="502920" indent="-457200">
              <a:buFont typeface="+mj-lt"/>
              <a:buAutoNum type="arabicPeriod"/>
            </a:pPr>
            <a:r>
              <a:rPr lang="ro-RO" sz="2400" dirty="0"/>
              <a:t>Scrieți o interogare care afișează nota maximă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nota minimă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numele și adresa de email a vizitatorilor care nu aparțin niciunei categorii</a:t>
            </a:r>
          </a:p>
          <a:p>
            <a:pPr marL="502920" indent="-457200">
              <a:buFont typeface="+mj-lt"/>
              <a:buAutoNum type="arabicPeriod"/>
            </a:pPr>
            <a:r>
              <a:rPr lang="ro-RO" sz="2400" dirty="0"/>
              <a:t>Scrieți o interogare care afișează numele și descrierea atracțiilor care aparțin unei categorii (valoarea codului de categorie să fie diferită de </a:t>
            </a:r>
            <a:r>
              <a:rPr lang="ro-RO" sz="2400" i="1" dirty="0"/>
              <a:t>NULL</a:t>
            </a:r>
            <a:r>
              <a:rPr lang="ro-RO" sz="2400" dirty="0"/>
              <a:t>)</a:t>
            </a:r>
          </a:p>
        </p:txBody>
      </p:sp>
    </p:spTree>
    <p:extLst>
      <p:ext uri="{BB962C8B-B14F-4D97-AF65-F5344CB8AC3E}">
        <p14:creationId xmlns:p14="http://schemas.microsoft.com/office/powerpoint/2010/main" val="85834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213200" cy="4954572"/>
          </a:xfrm>
        </p:spPr>
        <p:txBody>
          <a:bodyPr>
            <a:normAutofit/>
          </a:bodyPr>
          <a:lstStyle/>
          <a:p>
            <a:r>
              <a:rPr lang="ro-RO" dirty="0">
                <a:hlinkClick r:id="rId2"/>
              </a:rPr>
              <a:t>https://learn.microsoft.com/en-us/sql/t-sql/queries/select-transact-sql?view=sql-server-ver16</a:t>
            </a:r>
            <a:endParaRPr lang="en-US" dirty="0"/>
          </a:p>
          <a:p>
            <a:r>
              <a:rPr lang="ro-RO" dirty="0">
                <a:hlinkClick r:id="rId3"/>
              </a:rPr>
              <a:t>https://learn.microsoft.com/en-us/sql/t-sql/queries/select-clause-transact-sql?view=sql-server-ver16</a:t>
            </a:r>
            <a:endParaRPr lang="en-US" dirty="0"/>
          </a:p>
          <a:p>
            <a:r>
              <a:rPr lang="ro-RO" dirty="0">
                <a:hlinkClick r:id="rId4"/>
              </a:rPr>
              <a:t>https://learn.microsoft.com/en-us/sql/t-sql/queries/select-examples-transact-sql?view=sql-server-ver16</a:t>
            </a:r>
            <a:endParaRPr lang="en-US" dirty="0"/>
          </a:p>
          <a:p>
            <a:r>
              <a:rPr lang="ro-RO" dirty="0">
                <a:hlinkClick r:id="rId5"/>
              </a:rPr>
              <a:t>https://learn.microsoft.com/en-us/sql/t-sql/queries/select-group-by-transact-sql?view=sql-server-ver16</a:t>
            </a:r>
            <a:endParaRPr lang="en-US" dirty="0"/>
          </a:p>
          <a:p>
            <a:r>
              <a:rPr lang="ro-RO" dirty="0">
                <a:hlinkClick r:id="rId6"/>
              </a:rPr>
              <a:t>https://learn.microsoft.com/en-us/sql/t-sql/queries/select-having-transact-sql?view=sql-server-ver16</a:t>
            </a:r>
            <a:endParaRPr lang="en-US" dirty="0"/>
          </a:p>
          <a:p>
            <a:endParaRPr lang="ro-RO" dirty="0"/>
          </a:p>
        </p:txBody>
      </p:sp>
    </p:spTree>
    <p:extLst>
      <p:ext uri="{BB962C8B-B14F-4D97-AF65-F5344CB8AC3E}">
        <p14:creationId xmlns:p14="http://schemas.microsoft.com/office/powerpoint/2010/main" val="242822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https://learn.microsoft.com/en-us/sql/t-sql/queries/from-transact-sql?view=sql-server-ver16</a:t>
            </a:r>
            <a:endParaRPr lang="en-US" dirty="0"/>
          </a:p>
          <a:p>
            <a:r>
              <a:rPr lang="ro-RO" dirty="0">
                <a:hlinkClick r:id="rId3"/>
              </a:rPr>
              <a:t>https://learn.microsoft.com/en-us/sql/t-sql/queries/where-transact-sql?view=sql-server-ver16</a:t>
            </a:r>
            <a:endParaRPr lang="en-US" dirty="0"/>
          </a:p>
          <a:p>
            <a:r>
              <a:rPr lang="ro-RO" dirty="0">
                <a:hlinkClick r:id="rId4"/>
              </a:rPr>
              <a:t>https://learn.microsoft.com/en-us/sql/t-sql/queries/is-null-transact-sql?view=sql-server-ver16</a:t>
            </a:r>
            <a:endParaRPr lang="en-US" dirty="0"/>
          </a:p>
          <a:p>
            <a:r>
              <a:rPr lang="ro-RO" dirty="0">
                <a:hlinkClick r:id="rId5"/>
              </a:rPr>
              <a:t>https://learn.microsoft.com/en-us/sql/t-sql/language-elements/like-transact-sql?view=sql-server-ver16</a:t>
            </a:r>
            <a:endParaRPr lang="en-US" dirty="0"/>
          </a:p>
          <a:p>
            <a:r>
              <a:rPr lang="ro-RO" dirty="0">
                <a:hlinkClick r:id="rId6"/>
              </a:rPr>
              <a:t>https://learn.microsoft.com/en-us/sql/t-sql/language-elements/between-transact-sql?view=sql-server-ver16</a:t>
            </a:r>
            <a:endParaRPr lang="en-US" dirty="0"/>
          </a:p>
          <a:p>
            <a:endParaRPr lang="ro-RO" dirty="0"/>
          </a:p>
        </p:txBody>
      </p:sp>
    </p:spTree>
    <p:extLst>
      <p:ext uri="{BB962C8B-B14F-4D97-AF65-F5344CB8AC3E}">
        <p14:creationId xmlns:p14="http://schemas.microsoft.com/office/powerpoint/2010/main" val="372691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https://learn.microsoft.com/en-us/sql/t-sql/language-elements/exists-transact-sql?view=sql-server-ver16</a:t>
            </a:r>
            <a:endParaRPr lang="en-US" dirty="0"/>
          </a:p>
          <a:p>
            <a:r>
              <a:rPr lang="ro-RO" dirty="0">
                <a:hlinkClick r:id="rId3"/>
              </a:rPr>
              <a:t>https://learn.microsoft.com/en-us/sql/t-sql/language-elements/in-transact-sql?view=sql-server-ver16</a:t>
            </a:r>
            <a:endParaRPr lang="en-US" dirty="0"/>
          </a:p>
          <a:p>
            <a:r>
              <a:rPr lang="ro-RO" dirty="0">
                <a:hlinkClick r:id="rId4"/>
              </a:rPr>
              <a:t>https://learn.microsoft.com/en-us/sql/t-sql/language-elements/not-transact-sql?view=sql-server-ver16</a:t>
            </a:r>
            <a:endParaRPr lang="en-US" dirty="0"/>
          </a:p>
          <a:p>
            <a:r>
              <a:rPr lang="ro-RO" dirty="0">
                <a:hlinkClick r:id="rId5"/>
              </a:rPr>
              <a:t>https://learn.microsoft.com/en-us/sql/t-sql/language-elements/or-transact-sql?view=sql-server-ver16</a:t>
            </a:r>
            <a:endParaRPr lang="en-US" dirty="0"/>
          </a:p>
          <a:p>
            <a:r>
              <a:rPr lang="ro-RO" dirty="0">
                <a:hlinkClick r:id="rId6"/>
              </a:rPr>
              <a:t>https://learn.microsoft.com/en-us/sql/t-sql/language-elements/some-any-transact-sql?view=sql-server-ver16</a:t>
            </a:r>
            <a:endParaRPr lang="en-US" dirty="0"/>
          </a:p>
          <a:p>
            <a:endParaRPr lang="ro-RO" dirty="0"/>
          </a:p>
        </p:txBody>
      </p:sp>
    </p:spTree>
    <p:extLst>
      <p:ext uri="{BB962C8B-B14F-4D97-AF65-F5344CB8AC3E}">
        <p14:creationId xmlns:p14="http://schemas.microsoft.com/office/powerpoint/2010/main" val="3107686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https://learn.microsoft.com/en-us/sql/t-sql/language-elements/all-transact-sql?view=sql-server-ver16</a:t>
            </a:r>
            <a:endParaRPr lang="en-US" dirty="0"/>
          </a:p>
          <a:p>
            <a:r>
              <a:rPr lang="ro-RO" dirty="0">
                <a:hlinkClick r:id="rId3"/>
              </a:rPr>
              <a:t>https://learn.microsoft.com/en-us/sql/t-sql/language-elements/and-transact-sql?view=sql-server-ver16</a:t>
            </a:r>
            <a:endParaRPr lang="en-US" dirty="0"/>
          </a:p>
          <a:p>
            <a:r>
              <a:rPr lang="ro-RO" dirty="0">
                <a:hlinkClick r:id="rId4"/>
              </a:rPr>
              <a:t>https://learn.microsoft.com/en-us/sql/t-sql/language-elements/set-operators-union-transact-sql?view=sql-server-ver16</a:t>
            </a:r>
            <a:endParaRPr lang="en-US" dirty="0"/>
          </a:p>
          <a:p>
            <a:r>
              <a:rPr lang="ro-RO" dirty="0">
                <a:hlinkClick r:id="rId5"/>
              </a:rPr>
              <a:t>https://learn.microsoft.com/en-us/sql/t-sql/language-elements/set-operators-except-and-intersect-transact-sql?view=sql-server-ver16</a:t>
            </a:r>
            <a:endParaRPr lang="en-US" dirty="0"/>
          </a:p>
          <a:p>
            <a:r>
              <a:rPr lang="ro-RO" dirty="0">
                <a:hlinkClick r:id="rId6"/>
              </a:rPr>
              <a:t>https://learn.microsoft.com/en-us/sql/t-sql/statements/insert-transact-sql?view=sql-server-ver16</a:t>
            </a:r>
            <a:endParaRPr lang="en-US" dirty="0"/>
          </a:p>
          <a:p>
            <a:endParaRPr lang="ro-RO" dirty="0"/>
          </a:p>
        </p:txBody>
      </p:sp>
    </p:spTree>
    <p:extLst>
      <p:ext uri="{BB962C8B-B14F-4D97-AF65-F5344CB8AC3E}">
        <p14:creationId xmlns:p14="http://schemas.microsoft.com/office/powerpoint/2010/main" val="120101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lstStyle/>
          <a:p>
            <a:r>
              <a:rPr lang="ro-RO" dirty="0">
                <a:hlinkClick r:id="rId2"/>
              </a:rPr>
              <a:t>https://learn.microsoft.com/en-us/sql/t-sql/queries/update-transact-sql?view=sql-server-ver16</a:t>
            </a:r>
            <a:endParaRPr lang="en-US" dirty="0"/>
          </a:p>
          <a:p>
            <a:r>
              <a:rPr lang="ro-RO" dirty="0">
                <a:hlinkClick r:id="rId3"/>
              </a:rPr>
              <a:t>https://learn.microsoft.com/en-us/sql/t-sql/statements/delete-transact-sql?view=sql-server-ver16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D88A48650F9741BF9B7C709494C35B" ma:contentTypeVersion="0" ma:contentTypeDescription="Create a new document." ma:contentTypeScope="" ma:versionID="54ff9a60a5d55c75ad5d6720d7e5423b">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848A87-F104-4B51-BC49-07CCA3BBF486}"/>
</file>

<file path=customXml/itemProps2.xml><?xml version="1.0" encoding="utf-8"?>
<ds:datastoreItem xmlns:ds="http://schemas.openxmlformats.org/officeDocument/2006/customXml" ds:itemID="{73B1639D-1FB1-4E36-9894-B837B65995B2}"/>
</file>

<file path=customXml/itemProps3.xml><?xml version="1.0" encoding="utf-8"?>
<ds:datastoreItem xmlns:ds="http://schemas.openxmlformats.org/officeDocument/2006/customXml" ds:itemID="{0F0D6A16-A015-4B88-B9EA-658A23C4D124}"/>
</file>

<file path=docProps/app.xml><?xml version="1.0" encoding="utf-8"?>
<Properties xmlns="http://schemas.openxmlformats.org/officeDocument/2006/extended-properties" xmlns:vt="http://schemas.openxmlformats.org/officeDocument/2006/docPropsVTypes">
  <Template>Prezentare cu pictură Ocean (ecran lat)</Template>
  <TotalTime>371</TotalTime>
  <Words>3751</Words>
  <Application>Microsoft Office PowerPoint</Application>
  <PresentationFormat>Widescreen</PresentationFormat>
  <Paragraphs>252</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Consolas</vt:lpstr>
      <vt:lpstr>Georgia</vt:lpstr>
      <vt:lpstr>Ocean 16x9</vt:lpstr>
      <vt:lpstr>SQL DML: Limbaj de manipulare a datelor</vt:lpstr>
      <vt:lpstr>Limbajul SQL: DML</vt:lpstr>
      <vt:lpstr>Exercițiu</vt:lpstr>
      <vt:lpstr>Exercițiu</vt:lpstr>
      <vt:lpstr>Limbajul SQL - DML</vt:lpstr>
      <vt:lpstr>Observații</vt:lpstr>
      <vt:lpstr>Exercițiu</vt:lpstr>
      <vt:lpstr>Limbajul SQL - DML</vt:lpstr>
      <vt:lpstr>Exercițiu</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Limbajul SQL - DML</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Subinterogări</vt:lpstr>
      <vt:lpstr>Subinterogări</vt:lpstr>
      <vt:lpstr>Subinterogări</vt:lpstr>
      <vt:lpstr>Exerciții</vt:lpstr>
      <vt:lpstr>Limbajul SQL - DML</vt:lpstr>
      <vt:lpstr>Limbajul SQL - DML</vt:lpstr>
      <vt:lpstr>Exerciții</vt:lpstr>
      <vt:lpstr>Limbajul SQL - DML</vt:lpstr>
      <vt:lpstr>Limbajul SQL - DML</vt:lpstr>
      <vt:lpstr>Limbajul SQL - DML</vt:lpstr>
      <vt:lpstr>Exerciții</vt:lpstr>
      <vt:lpstr>Bibliografie</vt:lpstr>
      <vt:lpstr>Bibliografie</vt:lpstr>
      <vt:lpstr>Bibliografie</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DML: Limbaj de manipulare a datelor</dc:title>
  <dc:creator>Camelia Andor</dc:creator>
  <cp:lastModifiedBy>Camelia - Florina Andor</cp:lastModifiedBy>
  <cp:revision>41</cp:revision>
  <dcterms:created xsi:type="dcterms:W3CDTF">2023-10-12T19:43:00Z</dcterms:created>
  <dcterms:modified xsi:type="dcterms:W3CDTF">2025-10-13T21:37:20Z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0x01010018D88A48650F9741BF9B7C709494C35B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