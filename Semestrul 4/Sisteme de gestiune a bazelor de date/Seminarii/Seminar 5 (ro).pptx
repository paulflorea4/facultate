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s/slide26.xml" ContentType="application/vnd.openxmlformats-officedocument.presentationml.slide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omments/modernComment_199_2B9CA0C1.xml" ContentType="application/vnd.ms-powerpoint.comments+xml"/>
  <Override PartName="/ppt/authors.xml" ContentType="application/vnd.ms-powerpoint.author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8"/>
  </p:notesMasterIdLst>
  <p:sldIdLst>
    <p:sldId id="292" r:id="rId2"/>
    <p:sldId id="327" r:id="rId3"/>
    <p:sldId id="378" r:id="rId4"/>
    <p:sldId id="410" r:id="rId5"/>
    <p:sldId id="411" r:id="rId6"/>
    <p:sldId id="413" r:id="rId7"/>
    <p:sldId id="414" r:id="rId8"/>
    <p:sldId id="415" r:id="rId9"/>
    <p:sldId id="427" r:id="rId10"/>
    <p:sldId id="379" r:id="rId11"/>
    <p:sldId id="416" r:id="rId12"/>
    <p:sldId id="417" r:id="rId13"/>
    <p:sldId id="418" r:id="rId14"/>
    <p:sldId id="407" r:id="rId15"/>
    <p:sldId id="419" r:id="rId16"/>
    <p:sldId id="422" r:id="rId17"/>
    <p:sldId id="423" r:id="rId18"/>
    <p:sldId id="381" r:id="rId19"/>
    <p:sldId id="421" r:id="rId20"/>
    <p:sldId id="420" r:id="rId21"/>
    <p:sldId id="424" r:id="rId22"/>
    <p:sldId id="425" r:id="rId23"/>
    <p:sldId id="408" r:id="rId24"/>
    <p:sldId id="409" r:id="rId25"/>
    <p:sldId id="426" r:id="rId26"/>
    <p:sldId id="370" r:id="rId27"/>
  </p:sldIdLst>
  <p:sldSz cx="9144000" cy="5143500" type="screen16x9"/>
  <p:notesSz cx="6858000" cy="9144000"/>
  <p:embeddedFontLst>
    <p:embeddedFont>
      <p:font typeface="Avenir Next LT Pro" panose="020B0504020202020204" pitchFamily="34" charset="0"/>
      <p:regular r:id="rId29"/>
      <p:bold r:id="rId30"/>
      <p:italic r:id="rId31"/>
      <p:boldItalic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3A4DF0-D7F3-B59B-1BEC-D4E172D0FC08}" name="Manuela-Andreea Petrescu" initials="MP" userId="S::manuela.petrescu@ubbcluj.ro::c6bed5a4-d759-4788-af88-282274a951b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C80"/>
    <a:srgbClr val="009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/Relationships>
</file>

<file path=ppt/comments/modernComment_199_2B9CA0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79F5005-8580-4E28-B988-8E81B82F1642}" authorId="{763A4DF0-D7F3-B59B-1BEC-D4E172D0FC08}" created="2026-04-17T08:21:44.911">
    <pc:sldMkLst xmlns:pc="http://schemas.microsoft.com/office/powerpoint/2013/main/command">
      <pc:docMk/>
      <pc:sldMk cId="731685057" sldId="409"/>
    </pc:sldMkLst>
    <p188:txBody>
      <a:bodyPr/>
      <a:lstStyle/>
      <a:p>
        <a:r>
          <a:rPr lang="en-US"/>
          <a:t>mergand mai departe de la sql id -&gt; se poate afla execution plan -&gt;  era un full table scan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7CF23BA-0EB5-1B00-DCA8-963A69C3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24FEB96E-B60F-6838-BC7B-9359738BFA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85D8AE9E-4F8C-1A5F-8867-AF2812ED68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79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3827FE6-50E1-7818-C919-B8AE2F81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A1449E45-2B11-3AD0-13E2-7DB7EADE60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BBE5906C-F947-B4D1-9809-5EBE8A0CF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93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6B0EE73-25CD-E777-33E0-64A1C6A38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AC738E5D-57CA-7C89-9E47-3D7FEE59B8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4304F760-B078-4D6D-7511-0380D92D1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311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2559FDB-E147-2250-CC2B-9F890BEEE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DB12EF64-83FF-98F8-7736-5567FA7318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BCA3D22A-8E41-54D9-D1C6-B9D853CF2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4416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6B04929-EC4F-B5EE-EC3C-0C3228D7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F43A914B-D92E-AE97-2696-264F8A93A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547EB4A6-EE37-B16F-C25C-02AB58A43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7384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458DD4FC-2DFA-5FFC-4B9F-6C93E44D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9489D02E-D554-3FD0-845D-B8C75C48F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480D2F17-6C52-E036-ACDD-0D94E6B4BE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10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327525E3-8F0C-BC2B-346D-3A95808D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19CA237C-D322-4991-E4E3-C5D0EF101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7EB92905-5204-A833-685E-A6FBC99B0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43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64A51F7-9833-6073-2060-FDF2FF0C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B2723549-1F61-BA41-157D-818FBF842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2691E558-FE3B-332F-47C6-F79D17A23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463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55965DC-09A7-6FDA-E9C0-CFC80DD28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20F710E0-EB83-84CB-9BDB-A517485FA8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1BCD1FA2-940E-AAC8-B209-CA60847E9E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184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1E2D195-DAA3-4793-66A8-5FA2B51BA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C5553DF4-63DC-098A-90C3-3535713EAC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D4BFF4B7-8104-361C-7336-1E3E00924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766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9A6AAD3-EF6A-1D64-BA91-CEFA1C7F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47091746-8E3F-7C12-A2C3-2CCE71499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BA1517C5-E7D8-7DBD-14D1-CEB0620BE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7252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00CE3FC-528A-4E1E-7123-C143EFFC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6AC56015-AEDC-7533-6BC0-B6C0FDB78F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0E4E5B1B-A38B-1DB2-03DD-6F6DB9499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998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001CCAA-7CDE-A318-D18F-9D4783DF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866355C5-A43C-5260-F8E6-A493034E7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94D0B48E-0173-77CA-16DF-03ED1EE70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2441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BA470F6-162D-A345-92CC-1048E2775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E346257B-A315-7551-0934-FE901ED9B2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340EB190-0EC6-1C2B-72CB-CAAD373C0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312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F8EA59A-17AE-982A-1B3A-3BD6BD72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EA21199D-C144-5059-D451-B64C1FAE8A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A170A302-C9D4-F08E-CF56-6CDC59A27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011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2D23DA1-462E-7D2E-E885-C0E913D1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FEEB0826-3FA5-A636-C770-A4129C0D8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6A3BE658-2977-C687-7450-69AFFACA0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1867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F9787E9-1752-E3E7-DC44-71BD90BE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D031BC7D-5C76-D596-A2A9-40A9A437D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3D2E947F-E535-21F7-9B10-598CD78BC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3913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C61320E-3833-AE18-02F5-0C4A0E12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EFC2049A-7EBD-6392-381D-3BF21CD9A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E36314B2-983A-64E2-AABA-2AF42AB3F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0851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63A86E5-93A5-4E28-7450-F9AA12D3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B8A1D74D-CC12-22B7-DB22-9E12C779E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3E5F09FA-EF4D-1C1E-C6DB-6FA09853D8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963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1281B15-6E6F-F893-490F-2FBE60A1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10F6B90A-C36A-04AB-06F8-F002A07EEB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3351D784-5370-DBFD-14D8-E1950981CE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6878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FCBB9D9-1385-E72E-9246-702F1F790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ee898171_0_17:notes">
            <a:extLst>
              <a:ext uri="{FF2B5EF4-FFF2-40B4-BE49-F238E27FC236}">
                <a16:creationId xmlns:a16="http://schemas.microsoft.com/office/drawing/2014/main" id="{45756123-B26A-DE15-39D6-1F84467CD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ee898171_0_17:notes">
            <a:extLst>
              <a:ext uri="{FF2B5EF4-FFF2-40B4-BE49-F238E27FC236}">
                <a16:creationId xmlns:a16="http://schemas.microsoft.com/office/drawing/2014/main" id="{0DDDD4BC-86D6-8BEE-977C-3E8B8825F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6833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875267F7-4349-C660-64FE-1D63296BC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3ee898171_0_310:notes">
            <a:extLst>
              <a:ext uri="{FF2B5EF4-FFF2-40B4-BE49-F238E27FC236}">
                <a16:creationId xmlns:a16="http://schemas.microsoft.com/office/drawing/2014/main" id="{C231FEC2-31A7-C1B9-CEDC-E540F9B25D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b3ee898171_0_310:notes">
            <a:extLst>
              <a:ext uri="{FF2B5EF4-FFF2-40B4-BE49-F238E27FC236}">
                <a16:creationId xmlns:a16="http://schemas.microsoft.com/office/drawing/2014/main" id="{5F8408D0-E136-0FAB-BE1C-23C76160A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808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843534"/>
            <a:ext cx="8277606" cy="2379726"/>
          </a:xfrm>
        </p:spPr>
        <p:txBody>
          <a:bodyPr anchor="b">
            <a:normAutofit/>
          </a:bodyPr>
          <a:lstStyle>
            <a:lvl1pPr algn="l">
              <a:defRPr sz="1422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3545586"/>
            <a:ext cx="8277606" cy="1110996"/>
          </a:xfrm>
        </p:spPr>
        <p:txBody>
          <a:bodyPr>
            <a:normAutofit/>
          </a:bodyPr>
          <a:lstStyle>
            <a:lvl1pPr marL="0" indent="0" algn="l">
              <a:buNone/>
              <a:defRPr sz="4978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4767263"/>
            <a:ext cx="2057400" cy="273844"/>
          </a:xfrm>
        </p:spPr>
        <p:txBody>
          <a:bodyPr/>
          <a:lstStyle/>
          <a:p>
            <a:fld id="{965A7A7B-B71A-428D-833F-0F3507A6DB13}" type="datetimeFigureOut">
              <a:rPr lang="en-US" dirty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43158" y="260093"/>
            <a:ext cx="109728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3375901"/>
            <a:ext cx="8276022" cy="137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2130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858518"/>
            <a:ext cx="7626096" cy="2770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5CF65307-640F-4AE7-B0BE-50C709AD86C5}" type="datetimeFigureOut">
              <a:rPr lang="en-US" dirty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9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8" y="3736066"/>
            <a:ext cx="8351217" cy="61722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3838936"/>
            <a:ext cx="109728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480060"/>
            <a:ext cx="8167878" cy="3086100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3826764"/>
            <a:ext cx="7955280" cy="438912"/>
          </a:xfrm>
        </p:spPr>
        <p:txBody>
          <a:bodyPr anchor="ctr">
            <a:normAutofit/>
          </a:bodyPr>
          <a:lstStyle>
            <a:lvl1pPr marL="0" indent="0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6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1858518"/>
            <a:ext cx="3703320" cy="2770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1858518"/>
            <a:ext cx="3703320" cy="2770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202278E8-5F4B-47D5-A617-8CCDF75D6A33}" type="datetimeFigureOut">
              <a:rPr lang="en-US" dirty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9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1779488"/>
            <a:ext cx="3703320" cy="61793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2402766"/>
            <a:ext cx="3703320" cy="2226384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1779488"/>
            <a:ext cx="3703320" cy="61793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2402766"/>
            <a:ext cx="3703320" cy="2226383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16AAFA52-7A21-407F-8339-40DF182D7460}" type="datetimeFigureOut">
              <a:rPr lang="en-US" dirty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1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0" y="1150144"/>
            <a:ext cx="8187797" cy="2843213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2228849"/>
            <a:ext cx="96012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453896"/>
            <a:ext cx="7632954" cy="2242566"/>
          </a:xfrm>
        </p:spPr>
        <p:txBody>
          <a:bodyPr>
            <a:normAutofit/>
          </a:bodyPr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6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8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8" y="871525"/>
            <a:ext cx="2805555" cy="348250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282446"/>
            <a:ext cx="5047488" cy="3072384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2571750"/>
            <a:ext cx="2324862" cy="1549908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/>
          <a:lstStyle/>
          <a:p>
            <a:fld id="{6E6483A1-31A8-47A2-AB0A-53A7803D5EBF}" type="datetimeFigureOut">
              <a:rPr lang="en-US" dirty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20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8" y="871525"/>
            <a:ext cx="2805555" cy="348250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23894" y="870966"/>
            <a:ext cx="5047488" cy="3483864"/>
          </a:xfrm>
        </p:spPr>
        <p:txBody>
          <a:bodyPr anchor="t">
            <a:normAutofit/>
          </a:bodyPr>
          <a:lstStyle>
            <a:lvl1pPr marL="0" indent="0">
              <a:buNone/>
              <a:defRPr sz="4978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2578608"/>
            <a:ext cx="2324862" cy="154305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/>
          <a:lstStyle/>
          <a:p>
            <a:fld id="{6D8810B9-2C7C-4CAF-99E2-617AE20BA331}" type="datetimeFigureOut">
              <a:rPr lang="en-US" dirty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6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2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87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216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72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49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99_2B9CA0C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ql/relational-databases/sql-server-transaction-locking-and-row-versioning-guide?view=sql-server-ver16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learn.microsoft.com/en-us/sql/relational-databases/system-dynamic-management-views/sys-dm-tran-locks-transact-sql?view=sql-server-ver17" TargetMode="External"/><Relationship Id="rId5" Type="http://schemas.openxmlformats.org/officeDocument/2006/relationships/hyperlink" Target="https://learn.microsoft.com/en-us/sql/relational-databases/system-stored-procedures/sp-lock-transact-sql?view=sql-server-ver16" TargetMode="External"/><Relationship Id="rId4" Type="http://schemas.openxmlformats.org/officeDocument/2006/relationships/hyperlink" Target="https://learn.microsoft.com/en-us/sql/relational-databases/extended-events/quick-start-extended-events-in-sql-server?view=sql-server-ver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D1097-0102-5EB3-CB34-78C64E72A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77" y="437508"/>
            <a:ext cx="7917325" cy="31236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457200" algn="r">
              <a:spcBef>
                <a:spcPct val="0"/>
              </a:spcBef>
            </a:pPr>
            <a:r>
              <a:rPr lang="en-US" sz="5400" err="1">
                <a:solidFill>
                  <a:schemeClr val="bg1"/>
                </a:solidFill>
              </a:rPr>
              <a:t>Optimizarea</a:t>
            </a:r>
            <a:r>
              <a:rPr lang="en-US" sz="5400">
                <a:solidFill>
                  <a:schemeClr val="bg1"/>
                </a:solidFill>
              </a:rPr>
              <a:t> </a:t>
            </a:r>
            <a:r>
              <a:rPr lang="en-US" sz="5400" err="1">
                <a:solidFill>
                  <a:schemeClr val="bg1"/>
                </a:solidFill>
              </a:rPr>
              <a:t>interogărilor</a:t>
            </a:r>
            <a:r>
              <a:rPr lang="en-US" sz="5400">
                <a:solidFill>
                  <a:schemeClr val="bg1"/>
                </a:solidFill>
              </a:rPr>
              <a:t> SQL</a:t>
            </a:r>
            <a:br>
              <a:rPr lang="en-US" sz="5400">
                <a:solidFill>
                  <a:schemeClr val="bg1"/>
                </a:solidFill>
              </a:rPr>
            </a:br>
            <a:endParaRPr lang="en-US" sz="5400"/>
          </a:p>
          <a:p>
            <a:pPr algn="r">
              <a:spcBef>
                <a:spcPct val="0"/>
              </a:spcBef>
            </a:pPr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Seminar </a:t>
            </a:r>
            <a:r>
              <a:rPr lang="en-US" sz="5400">
                <a:solidFill>
                  <a:srgbClr val="FFFFFF"/>
                </a:solidFill>
              </a:rPr>
              <a:t>5</a:t>
            </a:r>
            <a:endParaRPr lang="en-US" sz="54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437508"/>
            <a:ext cx="104279" cy="104280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609480"/>
            <a:ext cx="68353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777799"/>
            <a:ext cx="95785" cy="95786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2627274"/>
            <a:ext cx="0" cy="2509567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4227510"/>
            <a:ext cx="113652" cy="113652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4572569"/>
            <a:ext cx="81469" cy="81469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4678521"/>
            <a:ext cx="71819" cy="71820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39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B0D8082E-CB97-A81F-1CA9-EC476E75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" name="Rectangle 131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381628"/>
            <a:ext cx="3913467" cy="4679746"/>
            <a:chOff x="-19221" y="251144"/>
            <a:chExt cx="5217958" cy="6239661"/>
          </a:xfrm>
        </p:grpSpPr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AD3873E-53FA-5E4B-76CD-8BF28CC811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060" y="932259"/>
            <a:ext cx="2891790" cy="327898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2700">
                <a:solidFill>
                  <a:schemeClr val="tx2"/>
                </a:solidFill>
              </a:rPr>
              <a:t>De </a:t>
            </a:r>
            <a:r>
              <a:rPr lang="en-US" sz="2700" err="1">
                <a:solidFill>
                  <a:schemeClr val="tx2"/>
                </a:solidFill>
              </a:rPr>
              <a:t>ce</a:t>
            </a:r>
            <a:r>
              <a:rPr lang="en-US" sz="2700">
                <a:solidFill>
                  <a:schemeClr val="tx2"/>
                </a:solidFill>
              </a:rPr>
              <a:t> </a:t>
            </a:r>
            <a:r>
              <a:rPr lang="en-US" sz="2700" err="1">
                <a:solidFill>
                  <a:schemeClr val="tx2"/>
                </a:solidFill>
              </a:rPr>
              <a:t>contează</a:t>
            </a:r>
            <a:br>
              <a:rPr lang="en-US" sz="2700">
                <a:solidFill>
                  <a:schemeClr val="tx2"/>
                </a:solidFill>
              </a:rPr>
            </a:br>
            <a:r>
              <a:rPr lang="en-US" sz="2700" err="1">
                <a:solidFill>
                  <a:schemeClr val="tx2"/>
                </a:solidFill>
              </a:rPr>
              <a:t>optimizarea</a:t>
            </a:r>
            <a:r>
              <a:rPr lang="en-US" sz="2700">
                <a:solidFill>
                  <a:schemeClr val="tx2"/>
                </a:solidFill>
              </a:rPr>
              <a:t>?</a:t>
            </a:r>
            <a:endParaRPr lang="en-US">
              <a:solidFill>
                <a:schemeClr val="tx2"/>
              </a:solidFill>
              <a:ea typeface="+mj-ea"/>
              <a:cs typeface="+mj-cs"/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97A854B6-C0FE-A3E2-5284-D52908E92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29150" y="603504"/>
            <a:ext cx="3915918" cy="392277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2"/>
                </a:solidFill>
              </a:rPr>
              <a:t>Același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rezultat</a:t>
            </a:r>
            <a:r>
              <a:rPr lang="en-US" sz="1400">
                <a:solidFill>
                  <a:schemeClr val="tx2"/>
                </a:solidFill>
              </a:rPr>
              <a:t> se </a:t>
            </a:r>
            <a:r>
              <a:rPr lang="en-US" sz="1400" err="1">
                <a:solidFill>
                  <a:schemeClr val="tx2"/>
                </a:solidFill>
              </a:rPr>
              <a:t>poate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obține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în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moduri</a:t>
            </a:r>
            <a:r>
              <a:rPr lang="en-US" sz="1400">
                <a:solidFill>
                  <a:schemeClr val="tx2"/>
                </a:solidFill>
              </a:rPr>
              <a:t> </a:t>
            </a:r>
            <a:r>
              <a:rPr lang="en-US" sz="1400" err="1">
                <a:solidFill>
                  <a:schemeClr val="tx2"/>
                </a:solidFill>
              </a:rPr>
              <a:t>diferite</a:t>
            </a:r>
            <a:r>
              <a:rPr lang="en-US" sz="1400">
                <a:solidFill>
                  <a:schemeClr val="tx2"/>
                </a:solidFill>
              </a:rPr>
              <a:t> (</a:t>
            </a:r>
            <a:r>
              <a:rPr lang="en-US" sz="1400" err="1">
                <a:solidFill>
                  <a:schemeClr val="tx2"/>
                </a:solidFill>
              </a:rPr>
              <a:t>interogări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diferite</a:t>
            </a:r>
            <a:r>
              <a:rPr lang="en-US" sz="1400">
                <a:solidFill>
                  <a:schemeClr val="tx2"/>
                </a:solidFill>
              </a:rPr>
              <a:t>)</a:t>
            </a:r>
            <a:endParaRPr lang="en-US" sz="1400" b="1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2"/>
                </a:solidFill>
              </a:rPr>
              <a:t>Optimizatorul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transformă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interogarea</a:t>
            </a:r>
            <a:r>
              <a:rPr lang="en-US" sz="1400">
                <a:solidFill>
                  <a:schemeClr val="tx2"/>
                </a:solidFill>
              </a:rPr>
              <a:t> </a:t>
            </a:r>
            <a:r>
              <a:rPr lang="en-US" sz="1400" err="1">
                <a:solidFill>
                  <a:schemeClr val="tx2"/>
                </a:solidFill>
              </a:rPr>
              <a:t>primită</a:t>
            </a:r>
            <a:r>
              <a:rPr lang="en-US" sz="1400">
                <a:solidFill>
                  <a:schemeClr val="tx2"/>
                </a:solidFill>
              </a:rPr>
              <a:t> </a:t>
            </a:r>
            <a:r>
              <a:rPr lang="en-US" sz="1400" err="1">
                <a:solidFill>
                  <a:schemeClr val="tx2"/>
                </a:solidFill>
              </a:rPr>
              <a:t>într</a:t>
            </a:r>
            <a:r>
              <a:rPr lang="en-US" sz="1400">
                <a:solidFill>
                  <a:schemeClr val="tx2"/>
                </a:solidFill>
              </a:rPr>
              <a:t>-un plan de </a:t>
            </a:r>
            <a:r>
              <a:rPr lang="en-US" sz="1400" err="1">
                <a:solidFill>
                  <a:schemeClr val="tx2"/>
                </a:solidFill>
              </a:rPr>
              <a:t>execuție</a:t>
            </a:r>
            <a:r>
              <a:rPr lang="en-US" sz="1400">
                <a:solidFill>
                  <a:schemeClr val="tx2"/>
                </a:solidFill>
              </a:rPr>
              <a:t> - </a:t>
            </a:r>
            <a:r>
              <a:rPr lang="en-US" sz="1400" err="1">
                <a:solidFill>
                  <a:schemeClr val="tx2"/>
                </a:solidFill>
              </a:rPr>
              <a:t>dar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lucrează</a:t>
            </a:r>
            <a:r>
              <a:rPr lang="en-US" sz="1400">
                <a:solidFill>
                  <a:schemeClr val="tx2"/>
                </a:solidFill>
              </a:rPr>
              <a:t> cu </a:t>
            </a:r>
            <a:r>
              <a:rPr lang="en-US" sz="1400" err="1">
                <a:solidFill>
                  <a:schemeClr val="tx2"/>
                </a:solidFill>
              </a:rPr>
              <a:t>datele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primi</a:t>
            </a:r>
            <a:r>
              <a:rPr lang="en-US" sz="1400">
                <a:solidFill>
                  <a:schemeClr val="tx2"/>
                </a:solidFill>
              </a:rPr>
              <a:t>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2"/>
                </a:solidFill>
              </a:rPr>
              <a:t>Planul</a:t>
            </a:r>
            <a:r>
              <a:rPr lang="en-US" sz="1400">
                <a:solidFill>
                  <a:schemeClr val="tx2"/>
                </a:solidFill>
              </a:rPr>
              <a:t> de </a:t>
            </a:r>
            <a:r>
              <a:rPr lang="en-US" sz="1400" err="1">
                <a:solidFill>
                  <a:schemeClr val="tx2"/>
                </a:solidFill>
              </a:rPr>
              <a:t>execuție</a:t>
            </a:r>
            <a:r>
              <a:rPr lang="en-US" sz="1400">
                <a:solidFill>
                  <a:schemeClr val="tx2"/>
                </a:solidFill>
              </a:rPr>
              <a:t> - </a:t>
            </a:r>
            <a:r>
              <a:rPr lang="en-US" sz="1400" err="1">
                <a:solidFill>
                  <a:schemeClr val="tx2"/>
                </a:solidFill>
              </a:rPr>
              <a:t>optimizarea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bazată</a:t>
            </a:r>
            <a:r>
              <a:rPr lang="en-US" sz="1400">
                <a:solidFill>
                  <a:schemeClr val="tx2"/>
                </a:solidFill>
              </a:rPr>
              <a:t> pe cost</a:t>
            </a:r>
          </a:p>
        </p:txBody>
      </p:sp>
    </p:spTree>
    <p:extLst>
      <p:ext uri="{BB962C8B-B14F-4D97-AF65-F5344CB8AC3E}">
        <p14:creationId xmlns:p14="http://schemas.microsoft.com/office/powerpoint/2010/main" val="2530567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E9977C51-38B3-BB0E-AF99-F899CFA5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672C068F-4E2C-C3D9-F860-BBA21F8670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1316304"/>
            <a:ext cx="7375161" cy="80010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2500" err="1">
                <a:solidFill>
                  <a:schemeClr val="tx2"/>
                </a:solidFill>
              </a:rPr>
              <a:t>Optimizarea</a:t>
            </a:r>
            <a:r>
              <a:rPr lang="en-US" sz="2500">
                <a:solidFill>
                  <a:schemeClr val="tx2"/>
                </a:solidFill>
              </a:rPr>
              <a:t> SQL</a:t>
            </a:r>
            <a:endParaRPr lang="en-US">
              <a:solidFill>
                <a:schemeClr val="tx2"/>
              </a:solidFill>
              <a:ea typeface="+mj-ea"/>
              <a:cs typeface="+mj-cs"/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198086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C0A8F4D-3F21-4D7C-EFD4-E2B439971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286993"/>
            <a:ext cx="7375161" cy="220918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2"/>
                </a:solidFill>
              </a:rPr>
              <a:t>Statistici</a:t>
            </a:r>
            <a:r>
              <a:rPr lang="en-US" sz="1400">
                <a:solidFill>
                  <a:schemeClr val="tx2"/>
                </a:solidFill>
              </a:rPr>
              <a:t>: </a:t>
            </a:r>
            <a:r>
              <a:rPr lang="en-US" sz="1400" err="1">
                <a:solidFill>
                  <a:schemeClr val="tx2"/>
                </a:solidFill>
              </a:rPr>
              <a:t>numărul</a:t>
            </a:r>
            <a:r>
              <a:rPr lang="en-US" sz="1400">
                <a:solidFill>
                  <a:schemeClr val="tx2"/>
                </a:solidFill>
              </a:rPr>
              <a:t> de </a:t>
            </a:r>
            <a:r>
              <a:rPr lang="en-US" sz="1400" err="1">
                <a:solidFill>
                  <a:schemeClr val="tx2"/>
                </a:solidFill>
              </a:rPr>
              <a:t>înregistrări</a:t>
            </a:r>
            <a:r>
              <a:rPr lang="en-US" sz="1400">
                <a:solidFill>
                  <a:schemeClr val="tx2"/>
                </a:solidFill>
              </a:rPr>
              <a:t>, </a:t>
            </a:r>
            <a:r>
              <a:rPr lang="en-US" sz="1400" err="1">
                <a:solidFill>
                  <a:schemeClr val="tx2"/>
                </a:solidFill>
              </a:rPr>
              <a:t>cardinalitatea</a:t>
            </a:r>
            <a:r>
              <a:rPr lang="en-US" sz="1400">
                <a:solidFill>
                  <a:schemeClr val="tx2"/>
                </a:solidFill>
              </a:rPr>
              <a:t>, </a:t>
            </a:r>
            <a:r>
              <a:rPr lang="en-US" sz="1400" err="1">
                <a:solidFill>
                  <a:schemeClr val="tx2"/>
                </a:solidFill>
              </a:rPr>
              <a:t>histograma</a:t>
            </a:r>
            <a:r>
              <a:rPr lang="en-US" sz="1400">
                <a:solidFill>
                  <a:schemeClr val="tx2"/>
                </a:solidFill>
              </a:rPr>
              <a:t> – </a:t>
            </a:r>
            <a:r>
              <a:rPr lang="en-US" sz="1400" err="1">
                <a:solidFill>
                  <a:schemeClr val="tx2"/>
                </a:solidFill>
              </a:rPr>
              <a:t>ceea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ce</a:t>
            </a:r>
            <a:r>
              <a:rPr lang="en-US" sz="1400">
                <a:solidFill>
                  <a:schemeClr val="tx2"/>
                </a:solidFill>
              </a:rPr>
              <a:t> </a:t>
            </a:r>
            <a:r>
              <a:rPr lang="en-US" sz="1400" err="1">
                <a:solidFill>
                  <a:schemeClr val="tx2"/>
                </a:solidFill>
              </a:rPr>
              <a:t>știe</a:t>
            </a:r>
            <a:r>
              <a:rPr lang="en-US" sz="1400">
                <a:solidFill>
                  <a:schemeClr val="tx2"/>
                </a:solidFill>
              </a:rPr>
              <a:t> BD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2"/>
                </a:solidFill>
              </a:rPr>
              <a:t>Selectivitatea</a:t>
            </a:r>
            <a:r>
              <a:rPr lang="en-US" sz="1400">
                <a:solidFill>
                  <a:schemeClr val="tx2"/>
                </a:solidFill>
              </a:rPr>
              <a:t>: </a:t>
            </a:r>
            <a:r>
              <a:rPr lang="en-US" sz="1400" err="1">
                <a:solidFill>
                  <a:schemeClr val="tx2"/>
                </a:solidFill>
              </a:rPr>
              <a:t>câte</a:t>
            </a:r>
            <a:r>
              <a:rPr lang="en-US" sz="1400">
                <a:solidFill>
                  <a:schemeClr val="tx2"/>
                </a:solidFill>
              </a:rPr>
              <a:t> </a:t>
            </a:r>
            <a:r>
              <a:rPr lang="en-US" sz="1400" err="1">
                <a:solidFill>
                  <a:schemeClr val="tx2"/>
                </a:solidFill>
              </a:rPr>
              <a:t>înregistrări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vor</a:t>
            </a:r>
            <a:r>
              <a:rPr lang="en-US" sz="1400">
                <a:solidFill>
                  <a:schemeClr val="tx2"/>
                </a:solidFill>
              </a:rPr>
              <a:t> fi </a:t>
            </a:r>
            <a:r>
              <a:rPr lang="en-US" sz="1400" err="1">
                <a:solidFill>
                  <a:schemeClr val="tx2"/>
                </a:solidFill>
              </a:rPr>
              <a:t>returnate</a:t>
            </a:r>
            <a:r>
              <a:rPr lang="en-US" sz="1400">
                <a:solidFill>
                  <a:schemeClr val="tx2"/>
                </a:solidFill>
              </a:rPr>
              <a:t> de </a:t>
            </a:r>
            <a:r>
              <a:rPr lang="en-US" sz="1400" err="1">
                <a:solidFill>
                  <a:schemeClr val="tx2"/>
                </a:solidFill>
              </a:rPr>
              <a:t>fiecare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predicat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2"/>
                </a:solidFill>
              </a:rPr>
              <a:t>Ordinea</a:t>
            </a:r>
            <a:r>
              <a:rPr lang="en-US" sz="1400">
                <a:solidFill>
                  <a:schemeClr val="tx2"/>
                </a:solidFill>
              </a:rPr>
              <a:t> JOIN-</a:t>
            </a:r>
            <a:r>
              <a:rPr lang="en-US" sz="1400" err="1">
                <a:solidFill>
                  <a:schemeClr val="tx2"/>
                </a:solidFill>
              </a:rPr>
              <a:t>urilor</a:t>
            </a:r>
            <a:r>
              <a:rPr lang="en-US" sz="1400">
                <a:solidFill>
                  <a:schemeClr val="tx2"/>
                </a:solidFill>
              </a:rPr>
              <a:t>: </a:t>
            </a:r>
            <a:r>
              <a:rPr lang="en-US" sz="1400" err="1">
                <a:solidFill>
                  <a:schemeClr val="tx2"/>
                </a:solidFill>
              </a:rPr>
              <a:t>filtrare</a:t>
            </a:r>
            <a:r>
              <a:rPr lang="en-US" sz="1400">
                <a:solidFill>
                  <a:schemeClr val="tx2"/>
                </a:solidFill>
              </a:rPr>
              <a:t> </a:t>
            </a:r>
            <a:r>
              <a:rPr lang="en-US" sz="1400" err="1">
                <a:solidFill>
                  <a:schemeClr val="tx2"/>
                </a:solidFill>
              </a:rPr>
              <a:t>imediată</a:t>
            </a:r>
            <a:r>
              <a:rPr lang="en-US" sz="1400">
                <a:solidFill>
                  <a:schemeClr val="tx2"/>
                </a:solidFill>
              </a:rPr>
              <a:t>, join de </a:t>
            </a:r>
            <a:r>
              <a:rPr lang="en-US" sz="1400" err="1">
                <a:solidFill>
                  <a:schemeClr val="tx2"/>
                </a:solidFill>
              </a:rPr>
              <a:t>rezultate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mai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puține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2"/>
                </a:solidFill>
              </a:rPr>
              <a:t>Conceptul</a:t>
            </a:r>
            <a:r>
              <a:rPr lang="en-US" sz="1400">
                <a:solidFill>
                  <a:schemeClr val="tx2"/>
                </a:solidFill>
              </a:rPr>
              <a:t> de </a:t>
            </a:r>
            <a:r>
              <a:rPr lang="en-US" sz="1400" err="1">
                <a:solidFill>
                  <a:schemeClr val="tx2"/>
                </a:solidFill>
              </a:rPr>
              <a:t>bază</a:t>
            </a:r>
            <a:r>
              <a:rPr lang="en-US" sz="1400">
                <a:solidFill>
                  <a:schemeClr val="tx2"/>
                </a:solidFill>
              </a:rPr>
              <a:t>: </a:t>
            </a:r>
            <a:r>
              <a:rPr lang="en-US" sz="1400" err="1">
                <a:solidFill>
                  <a:schemeClr val="tx2"/>
                </a:solidFill>
              </a:rPr>
              <a:t>condițiile</a:t>
            </a:r>
            <a:r>
              <a:rPr lang="en-US" sz="1400">
                <a:solidFill>
                  <a:schemeClr val="tx2"/>
                </a:solidFill>
              </a:rPr>
              <a:t> din WHERE </a:t>
            </a:r>
            <a:r>
              <a:rPr lang="en-US" sz="1400" err="1">
                <a:solidFill>
                  <a:schemeClr val="tx2"/>
                </a:solidFill>
              </a:rPr>
              <a:t>aplicate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cât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mai</a:t>
            </a:r>
            <a:r>
              <a:rPr lang="en-US" sz="1400">
                <a:solidFill>
                  <a:schemeClr val="tx2"/>
                </a:solidFill>
              </a:rPr>
              <a:t> </a:t>
            </a:r>
            <a:r>
              <a:rPr lang="en-US" sz="1400" err="1">
                <a:solidFill>
                  <a:schemeClr val="tx2"/>
                </a:solidFill>
              </a:rPr>
              <a:t>devreme</a:t>
            </a:r>
          </a:p>
        </p:txBody>
      </p:sp>
    </p:spTree>
    <p:extLst>
      <p:ext uri="{BB962C8B-B14F-4D97-AF65-F5344CB8AC3E}">
        <p14:creationId xmlns:p14="http://schemas.microsoft.com/office/powerpoint/2010/main" val="4148099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11BE-7ABA-B873-427F-27A74B11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Exemple</a:t>
            </a:r>
            <a:r>
              <a:rPr lang="en-US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9AB0A-EAF6-1927-829C-B6436ACC7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err="1"/>
              <a:t>Numărul</a:t>
            </a:r>
            <a:r>
              <a:rPr lang="en-US" sz="2400"/>
              <a:t> de </a:t>
            </a:r>
            <a:r>
              <a:rPr lang="en-US" sz="2400" err="1"/>
              <a:t>înregistrări</a:t>
            </a:r>
            <a:endParaRPr lang="en-US" sz="2400"/>
          </a:p>
          <a:p>
            <a:pPr lvl="1">
              <a:buChar char="•"/>
            </a:pPr>
            <a:r>
              <a:rPr lang="en-US" sz="1800" err="1">
                <a:latin typeface="Avenir Next LT Pro"/>
                <a:ea typeface="+mn-lt"/>
                <a:cs typeface="Arial"/>
              </a:rPr>
              <a:t>Tabelul</a:t>
            </a:r>
            <a:r>
              <a:rPr lang="en-US" sz="1800">
                <a:latin typeface="Avenir Next LT Pro"/>
                <a:ea typeface="+mn-lt"/>
                <a:cs typeface="Arial"/>
              </a:rPr>
              <a:t> </a:t>
            </a:r>
            <a:r>
              <a:rPr lang="en-US" sz="1800" err="1">
                <a:latin typeface="Avenir Next LT Pro"/>
                <a:cs typeface="Arial"/>
              </a:rPr>
              <a:t>angajati</a:t>
            </a:r>
            <a:r>
              <a:rPr lang="en-US" sz="1800">
                <a:latin typeface="Avenir Next LT Pro"/>
                <a:ea typeface="+mn-lt"/>
                <a:cs typeface="Arial"/>
              </a:rPr>
              <a:t> are 100 de </a:t>
            </a:r>
            <a:r>
              <a:rPr lang="en-US" sz="1800" err="1">
                <a:latin typeface="Avenir Next LT Pro"/>
                <a:ea typeface="+mn-lt"/>
                <a:cs typeface="Arial"/>
              </a:rPr>
              <a:t>rânduri</a:t>
            </a:r>
            <a:r>
              <a:rPr lang="en-US" sz="1800">
                <a:latin typeface="Avenir Next LT Pro"/>
                <a:ea typeface="+mn-lt"/>
                <a:cs typeface="Arial"/>
              </a:rPr>
              <a:t>.</a:t>
            </a:r>
            <a:br>
              <a:rPr lang="en-US" sz="1800">
                <a:latin typeface="Avenir Next LT Pro"/>
                <a:ea typeface="+mn-lt"/>
                <a:cs typeface="Arial"/>
              </a:rPr>
            </a:br>
            <a:r>
              <a:rPr lang="en-US" sz="1800" err="1">
                <a:latin typeface="Avenir Next LT Pro"/>
                <a:ea typeface="+mn-lt"/>
                <a:cs typeface="Arial"/>
              </a:rPr>
              <a:t>Tabelul</a:t>
            </a:r>
            <a:r>
              <a:rPr lang="en-US" sz="1800">
                <a:latin typeface="Avenir Next LT Pro"/>
                <a:ea typeface="+mn-lt"/>
                <a:cs typeface="Arial"/>
              </a:rPr>
              <a:t> </a:t>
            </a:r>
            <a:r>
              <a:rPr lang="en-US" sz="1800" err="1">
                <a:latin typeface="Avenir Next LT Pro"/>
                <a:cs typeface="Arial"/>
              </a:rPr>
              <a:t>vanzari</a:t>
            </a:r>
            <a:r>
              <a:rPr lang="en-US" sz="1800">
                <a:latin typeface="Avenir Next LT Pro"/>
                <a:ea typeface="+mn-lt"/>
                <a:cs typeface="Arial"/>
              </a:rPr>
              <a:t> are 5.000.000 de </a:t>
            </a:r>
            <a:r>
              <a:rPr lang="en-US" sz="1800" err="1">
                <a:latin typeface="Avenir Next LT Pro"/>
                <a:ea typeface="+mn-lt"/>
                <a:cs typeface="Arial"/>
              </a:rPr>
              <a:t>rânduri</a:t>
            </a:r>
            <a:r>
              <a:rPr lang="en-US" sz="1800">
                <a:latin typeface="Avenir Next LT Pro"/>
                <a:ea typeface="+mn-lt"/>
                <a:cs typeface="Arial"/>
              </a:rPr>
              <a:t>.</a:t>
            </a:r>
            <a:endParaRPr lang="en-US" sz="1800">
              <a:latin typeface="Avenir Next LT Pro"/>
              <a:cs typeface="Arial"/>
            </a:endParaRPr>
          </a:p>
          <a:p>
            <a:pPr marL="596900" lvl="1" indent="0">
              <a:buNone/>
            </a:pPr>
            <a:endParaRPr lang="en-US" sz="1800">
              <a:latin typeface="Avenir Next LT Pro"/>
              <a:ea typeface="+mn-lt"/>
              <a:cs typeface="Arial"/>
            </a:endParaRPr>
          </a:p>
          <a:p>
            <a:pPr lvl="1">
              <a:buChar char="•"/>
            </a:pPr>
            <a:r>
              <a:rPr lang="en-US" sz="1800">
                <a:latin typeface="Avenir Next LT Pro"/>
                <a:ea typeface="+mn-lt"/>
                <a:cs typeface="Arial"/>
              </a:rPr>
              <a:t>Baza de date </a:t>
            </a:r>
            <a:r>
              <a:rPr lang="en-US" sz="1800" err="1">
                <a:latin typeface="Avenir Next LT Pro"/>
                <a:ea typeface="+mn-lt"/>
                <a:cs typeface="Arial"/>
              </a:rPr>
              <a:t>știe</a:t>
            </a:r>
            <a:r>
              <a:rPr lang="en-US" sz="1800">
                <a:latin typeface="Avenir Next LT Pro"/>
                <a:ea typeface="+mn-lt"/>
                <a:cs typeface="Arial"/>
              </a:rPr>
              <a:t> </a:t>
            </a:r>
            <a:r>
              <a:rPr lang="en-US" sz="1800" err="1">
                <a:latin typeface="Avenir Next LT Pro"/>
                <a:ea typeface="+mn-lt"/>
                <a:cs typeface="Arial"/>
              </a:rPr>
              <a:t>că</a:t>
            </a:r>
            <a:r>
              <a:rPr lang="en-US" sz="1800">
                <a:latin typeface="Avenir Next LT Pro"/>
                <a:ea typeface="+mn-lt"/>
                <a:cs typeface="Arial"/>
              </a:rPr>
              <a:t>:</a:t>
            </a:r>
            <a:endParaRPr lang="en-US" sz="1800">
              <a:latin typeface="Avenir Next LT Pro"/>
              <a:cs typeface="Arial"/>
            </a:endParaRPr>
          </a:p>
          <a:p>
            <a:pPr lvl="2">
              <a:buFont typeface="Arial"/>
              <a:buChar char="■"/>
            </a:pPr>
            <a:r>
              <a:rPr lang="en-US" sz="1400" err="1">
                <a:latin typeface="Avenir Next LT Pro"/>
                <a:cs typeface="Arial"/>
              </a:rPr>
              <a:t>angajati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este</a:t>
            </a:r>
            <a:r>
              <a:rPr lang="en-US" sz="1400">
                <a:latin typeface="Avenir Next LT Pro"/>
                <a:ea typeface="+mn-lt"/>
                <a:cs typeface="Arial"/>
              </a:rPr>
              <a:t> mic </a:t>
            </a:r>
            <a:endParaRPr lang="en-US" sz="1400">
              <a:latin typeface="Avenir Next LT Pro"/>
              <a:cs typeface="Arial"/>
            </a:endParaRPr>
          </a:p>
          <a:p>
            <a:pPr lvl="2">
              <a:buFont typeface="Arial"/>
              <a:buChar char="■"/>
            </a:pPr>
            <a:r>
              <a:rPr lang="en-US" sz="1400" err="1">
                <a:latin typeface="Avenir Next LT Pro"/>
                <a:cs typeface="Arial"/>
              </a:rPr>
              <a:t>vanzari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este</a:t>
            </a:r>
            <a:r>
              <a:rPr lang="en-US" sz="1400">
                <a:latin typeface="Avenir Next LT Pro"/>
                <a:ea typeface="+mn-lt"/>
                <a:cs typeface="Arial"/>
              </a:rPr>
              <a:t> mare </a:t>
            </a:r>
            <a:endParaRPr lang="en-US" sz="1400">
              <a:latin typeface="Avenir Next LT Pro"/>
              <a:cs typeface="Arial"/>
            </a:endParaRPr>
          </a:p>
          <a:p>
            <a:pPr lvl="2"/>
            <a:endParaRPr lang="en-US" sz="1400">
              <a:latin typeface="Avenir Next LT Pro"/>
              <a:ea typeface="+mn-lt"/>
              <a:cs typeface="Arial"/>
            </a:endParaRPr>
          </a:p>
          <a:p>
            <a:pPr lvl="1">
              <a:buChar char="•"/>
            </a:pPr>
            <a:r>
              <a:rPr lang="en-US" sz="1800" err="1">
                <a:latin typeface="Avenir Next LT Pro"/>
                <a:ea typeface="+mn-lt"/>
                <a:cs typeface="Arial"/>
              </a:rPr>
              <a:t>Consecință</a:t>
            </a:r>
            <a:r>
              <a:rPr lang="en-US" sz="1800">
                <a:latin typeface="Avenir Next LT Pro"/>
                <a:ea typeface="+mn-lt"/>
                <a:cs typeface="Arial"/>
              </a:rPr>
              <a:t>:</a:t>
            </a:r>
            <a:endParaRPr lang="en-US" sz="1800">
              <a:latin typeface="Avenir Next LT Pro"/>
              <a:cs typeface="Arial"/>
            </a:endParaRPr>
          </a:p>
          <a:p>
            <a:pPr lvl="2"/>
            <a:r>
              <a:rPr lang="en-US" sz="1400" err="1">
                <a:latin typeface="Avenir Next LT Pro"/>
                <a:ea typeface="+mn-lt"/>
                <a:cs typeface="Arial"/>
              </a:rPr>
              <a:t>pentru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cs typeface="Arial"/>
              </a:rPr>
              <a:t>angajati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poate</a:t>
            </a:r>
            <a:r>
              <a:rPr lang="en-US" sz="1400">
                <a:latin typeface="Avenir Next LT Pro"/>
                <a:ea typeface="+mn-lt"/>
                <a:cs typeface="Arial"/>
              </a:rPr>
              <a:t> fi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acceptabil</a:t>
            </a:r>
            <a:r>
              <a:rPr lang="en-US" sz="1400">
                <a:latin typeface="Avenir Next LT Pro"/>
                <a:ea typeface="+mn-lt"/>
                <a:cs typeface="Arial"/>
              </a:rPr>
              <a:t> un full scan </a:t>
            </a:r>
            <a:endParaRPr lang="en-US" sz="1400">
              <a:latin typeface="Avenir Next LT Pro"/>
              <a:cs typeface="Arial"/>
            </a:endParaRPr>
          </a:p>
          <a:p>
            <a:pPr lvl="2"/>
            <a:r>
              <a:rPr lang="en-US" sz="1400" err="1">
                <a:latin typeface="Avenir Next LT Pro"/>
                <a:ea typeface="+mn-lt"/>
                <a:cs typeface="Arial"/>
              </a:rPr>
              <a:t>pentru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cs typeface="Arial"/>
              </a:rPr>
              <a:t>vanzari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va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încerca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metode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mai</a:t>
            </a:r>
            <a:r>
              <a:rPr lang="en-US" sz="1400">
                <a:latin typeface="Avenir Next LT Pro"/>
                <a:ea typeface="+mn-lt"/>
                <a:cs typeface="Arial"/>
              </a:rPr>
              <a:t>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eficiente</a:t>
            </a:r>
            <a:r>
              <a:rPr lang="en-US" sz="1400">
                <a:latin typeface="Avenir Next LT Pro"/>
                <a:ea typeface="+mn-lt"/>
                <a:cs typeface="Arial"/>
              </a:rPr>
              <a:t>, de </a:t>
            </a:r>
            <a:r>
              <a:rPr lang="en-US" sz="1400" err="1">
                <a:latin typeface="Avenir Next LT Pro"/>
                <a:ea typeface="+mn-lt"/>
                <a:cs typeface="Arial"/>
              </a:rPr>
              <a:t>exemplu</a:t>
            </a:r>
            <a:r>
              <a:rPr lang="en-US" sz="1400">
                <a:latin typeface="Avenir Next LT Pro"/>
                <a:ea typeface="+mn-lt"/>
                <a:cs typeface="Arial"/>
              </a:rPr>
              <a:t> index</a:t>
            </a:r>
            <a:endParaRPr lang="en-US" sz="1400">
              <a:latin typeface="Avenir Next LT Pro"/>
              <a:cs typeface="Arial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F0926-EAA4-0FAD-9877-816FE25D2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4</a:t>
            </a:fld>
            <a:endParaRPr lang="ro"/>
          </a:p>
        </p:txBody>
      </p:sp>
    </p:spTree>
    <p:extLst>
      <p:ext uri="{BB962C8B-B14F-4D97-AF65-F5344CB8AC3E}">
        <p14:creationId xmlns:p14="http://schemas.microsoft.com/office/powerpoint/2010/main" val="309084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D06C6A67-F734-AAE1-E430-9E89F4AA7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22BEE7B3-9F9A-7D62-8B61-14F55ED6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0B64760-8B7E-B633-DDDC-D6438396D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AB974821-B51A-0106-1CE1-888BD80DB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641" y="74526"/>
            <a:ext cx="7375161" cy="80010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2500" err="1">
                <a:solidFill>
                  <a:schemeClr val="tx2"/>
                </a:solidFill>
              </a:rPr>
              <a:t>Exemplu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4FD7E27-2C3C-C6B6-94D2-420B016C7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198086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AA50F3B-7FF4-75F6-FF65-CAC002E4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CBDB959-2B3C-BF27-F2AE-D8ACA927F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86D8482B-C353-A2E1-C0D3-84C6959C4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4478C08-5330-A524-A499-F6903E7B98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1A93B5B0-6A59-83E2-022F-4AEA48CE8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868827"/>
            <a:ext cx="7375161" cy="362734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14300" indent="0">
              <a:buNone/>
            </a:pPr>
            <a:r>
              <a:rPr lang="en-US" err="1"/>
              <a:t>Cardinalitatea</a:t>
            </a:r>
            <a:endParaRPr lang="en-US"/>
          </a:p>
          <a:p>
            <a:pPr marL="114300" indent="0">
              <a:buNone/>
            </a:pP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În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tabelul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Avenir Next LT Pro"/>
              </a:rPr>
              <a:t>clienti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coloana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Avenir Next LT Pro"/>
              </a:rPr>
              <a:t>oras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are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valorile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:  </a:t>
            </a:r>
            <a:r>
              <a:rPr lang="en-US" sz="1400" err="1">
                <a:solidFill>
                  <a:schemeClr val="tx2"/>
                </a:solidFill>
                <a:latin typeface="Avenir Next LT Pro"/>
              </a:rPr>
              <a:t>Bucuresti</a:t>
            </a:r>
            <a:r>
              <a:rPr lang="en-US" sz="1400">
                <a:solidFill>
                  <a:schemeClr val="tx2"/>
                </a:solidFill>
                <a:latin typeface="Avenir Next LT Pro"/>
              </a:rPr>
              <a:t>, Cluj, Iasi, Timisoara</a:t>
            </a:r>
            <a:endParaRPr lang="en-US">
              <a:solidFill>
                <a:schemeClr val="tx2"/>
              </a:solidFill>
              <a:latin typeface="Avenir Next LT Pro"/>
            </a:endParaRPr>
          </a:p>
          <a:p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Sunt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doar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4 </a:t>
            </a:r>
            <a:r>
              <a:rPr lang="en-US" sz="1400" b="1" err="1">
                <a:solidFill>
                  <a:schemeClr val="tx2"/>
                </a:solidFill>
                <a:ea typeface="+mn-lt"/>
                <a:cs typeface="+mn-lt"/>
              </a:rPr>
              <a:t>valori</a:t>
            </a:r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chemeClr val="tx2"/>
                </a:solidFill>
                <a:ea typeface="+mn-lt"/>
                <a:cs typeface="+mn-lt"/>
              </a:rPr>
              <a:t>distincte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deci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cardinalitate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mică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2"/>
              </a:solidFill>
            </a:endParaRPr>
          </a:p>
          <a:p>
            <a:pPr indent="-342900">
              <a:buSzPts val="1800"/>
              <a:buFont typeface="Arial" panose="020B0604020202020204" pitchFamily="34" charset="0"/>
              <a:buChar char="●"/>
            </a:pP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Coloana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tx2"/>
                </a:solidFill>
                <a:latin typeface="Avenir Next LT Pro"/>
              </a:rPr>
              <a:t>email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are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valori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aproape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unice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pentru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fiecare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client,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deci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cardinalitate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 mare.</a:t>
            </a:r>
            <a:endParaRPr lang="en-US">
              <a:solidFill>
                <a:schemeClr val="tx2"/>
              </a:solidFill>
            </a:endParaRPr>
          </a:p>
          <a:p>
            <a:endParaRPr lang="en-US" sz="1400">
              <a:solidFill>
                <a:schemeClr val="tx2"/>
              </a:solidFill>
              <a:ea typeface="+mn-lt"/>
              <a:cs typeface="+mn-lt"/>
            </a:endParaRPr>
          </a:p>
          <a:p>
            <a:pPr indent="-342900">
              <a:buSzPts val="1800"/>
              <a:buFont typeface="Arial" panose="020B0604020202020204" pitchFamily="34" charset="0"/>
              <a:buChar char="●"/>
            </a:pPr>
            <a:r>
              <a:rPr lang="en-US" sz="1400" err="1">
                <a:solidFill>
                  <a:schemeClr val="tx2"/>
                </a:solidFill>
                <a:ea typeface="+mn-lt"/>
                <a:cs typeface="+mn-lt"/>
              </a:rPr>
              <a:t>Consecință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:</a:t>
            </a:r>
            <a:endParaRPr lang="en-US">
              <a:solidFill>
                <a:schemeClr val="tx2"/>
              </a:solidFill>
              <a:ea typeface="+mn-lt"/>
              <a:cs typeface="+mn-lt"/>
            </a:endParaRPr>
          </a:p>
          <a:p>
            <a:pPr lvl="1"/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index pe </a:t>
            </a:r>
            <a:r>
              <a:rPr lang="en-US" sz="1000">
                <a:solidFill>
                  <a:schemeClr val="tx2"/>
                </a:solidFill>
                <a:latin typeface="Avenir Next LT Pro"/>
              </a:rPr>
              <a:t>email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poate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fi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foarte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util </a:t>
            </a:r>
            <a:endParaRPr lang="en-US" sz="1000">
              <a:solidFill>
                <a:schemeClr val="tx2"/>
              </a:solidFill>
            </a:endParaRPr>
          </a:p>
          <a:p>
            <a:pPr lvl="1"/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index pe </a:t>
            </a:r>
            <a:r>
              <a:rPr lang="en-US" sz="1000" err="1">
                <a:solidFill>
                  <a:schemeClr val="tx2"/>
                </a:solidFill>
                <a:latin typeface="Avenir Next LT Pro"/>
              </a:rPr>
              <a:t>oras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poate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fi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mai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puțin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util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dacă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multe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rânduri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au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aceeași</a:t>
            </a:r>
            <a:r>
              <a:rPr lang="en-US" sz="10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chemeClr val="tx2"/>
                </a:solidFill>
                <a:ea typeface="+mn-lt"/>
                <a:cs typeface="+mn-lt"/>
              </a:rPr>
              <a:t>valoare</a:t>
            </a:r>
            <a:endParaRPr lang="en-US" sz="1000">
              <a:solidFill>
                <a:schemeClr val="tx2"/>
              </a:solidFill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endParaRPr 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766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5C164603-1C7F-3120-99A9-AD128B71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9AD47583-CF93-59D2-80E9-A81AA1FDD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BE760F5-87F1-C1FF-DB59-1851F9AB1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152878F-BB51-6936-3868-F96B97FBDB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5641" y="490804"/>
            <a:ext cx="7375161" cy="80010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2500" err="1">
                <a:solidFill>
                  <a:schemeClr val="tx2"/>
                </a:solidFill>
              </a:rPr>
              <a:t>Exemplu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21BF896-8601-AD65-99F6-55EF41D89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198086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FA9A113-C351-1120-90F8-47A01C151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BF6D1E8-0429-9170-BE57-E10E02B85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15BA08DF-2981-A584-274F-DFEA1D29CA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1EBA691D-428D-672A-60F3-0F998766A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9DF53C94-A6AE-D43F-BA30-C67B80B389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1517938"/>
            <a:ext cx="7375161" cy="29782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47500" lnSpcReduction="20000"/>
          </a:bodyPr>
          <a:lstStyle/>
          <a:p>
            <a:pPr>
              <a:buSzPts val="1400"/>
              <a:buNone/>
            </a:pPr>
            <a:endParaRPr lang="en-US" sz="2000">
              <a:ea typeface="+mn-lt"/>
              <a:cs typeface="+mn-lt"/>
            </a:endParaRPr>
          </a:p>
          <a:p>
            <a:pPr>
              <a:buSzPts val="1400"/>
              <a:buNone/>
            </a:pPr>
            <a:r>
              <a:rPr lang="en-US" sz="2000" err="1">
                <a:ea typeface="+mn-lt"/>
                <a:cs typeface="+mn-lt"/>
              </a:rPr>
              <a:t>Tabelul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>
                <a:latin typeface="Consolas"/>
                <a:ea typeface="+mn-lt"/>
                <a:cs typeface="+mn-lt"/>
              </a:rPr>
              <a:t>ORDERS </a:t>
            </a:r>
            <a:r>
              <a:rPr lang="en-US" sz="2000">
                <a:ea typeface="+mn-lt"/>
                <a:cs typeface="+mn-lt"/>
              </a:rPr>
              <a:t> are 200.000 </a:t>
            </a:r>
            <a:r>
              <a:rPr lang="en-US" sz="2000" err="1">
                <a:ea typeface="+mn-lt"/>
                <a:cs typeface="+mn-lt"/>
              </a:rPr>
              <a:t>rânduri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400">
              <a:ea typeface="+mn-lt"/>
              <a:cs typeface="+mn-lt"/>
            </a:endParaRPr>
          </a:p>
          <a:p>
            <a:pPr>
              <a:buSzPts val="1400"/>
              <a:buNone/>
            </a:pPr>
            <a:r>
              <a:rPr lang="en-US" sz="2000" err="1">
                <a:ea typeface="+mn-lt"/>
                <a:cs typeface="+mn-lt"/>
              </a:rPr>
              <a:t>Tabelul</a:t>
            </a:r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b="1">
                <a:ea typeface="+mn-lt"/>
                <a:cs typeface="+mn-lt"/>
              </a:rPr>
              <a:t>CUSTOMERS</a:t>
            </a:r>
            <a:r>
              <a:rPr lang="en-US" sz="2000">
                <a:ea typeface="+mn-lt"/>
                <a:cs typeface="+mn-lt"/>
              </a:rPr>
              <a:t> are 1000 de </a:t>
            </a:r>
            <a:r>
              <a:rPr lang="en-US" sz="2000" err="1">
                <a:ea typeface="+mn-lt"/>
                <a:cs typeface="+mn-lt"/>
              </a:rPr>
              <a:t>înregistrări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>
              <a:buSzPts val="1400"/>
              <a:buNone/>
            </a:pPr>
            <a:endParaRPr lang="en-US" sz="2000">
              <a:ea typeface="+mn-lt"/>
              <a:cs typeface="+mn-lt"/>
            </a:endParaRPr>
          </a:p>
          <a:p>
            <a:pPr>
              <a:buSzPts val="1400"/>
              <a:buNone/>
            </a:pPr>
            <a:endParaRPr lang="en-US" sz="200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explain SELECT * 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FROM orders o JOIN customers c ON c.id=</a:t>
            </a:r>
            <a:r>
              <a:rPr lang="en-US" sz="2000" err="1">
                <a:ea typeface="+mn-lt"/>
                <a:cs typeface="+mn-lt"/>
              </a:rPr>
              <a:t>o.customer_id</a:t>
            </a:r>
            <a:endParaRPr lang="en-US" err="1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WHERE </a:t>
            </a:r>
            <a:r>
              <a:rPr lang="en-US" sz="2000" err="1">
                <a:ea typeface="+mn-lt"/>
                <a:cs typeface="+mn-lt"/>
              </a:rPr>
              <a:t>o.total</a:t>
            </a:r>
            <a:r>
              <a:rPr lang="en-US" sz="2000">
                <a:ea typeface="+mn-lt"/>
                <a:cs typeface="+mn-lt"/>
              </a:rPr>
              <a:t> &gt; 100 AND </a:t>
            </a:r>
            <a:r>
              <a:rPr lang="en-US" sz="2000" err="1">
                <a:ea typeface="+mn-lt"/>
                <a:cs typeface="+mn-lt"/>
              </a:rPr>
              <a:t>c.country</a:t>
            </a:r>
            <a:r>
              <a:rPr lang="en-US" sz="2000">
                <a:ea typeface="+mn-lt"/>
                <a:cs typeface="+mn-lt"/>
              </a:rPr>
              <a:t>='France';</a:t>
            </a:r>
            <a:endParaRPr lang="en-US"/>
          </a:p>
          <a:p>
            <a:pPr marL="1200150" lvl="2">
              <a:buSzPts val="1800"/>
              <a:buFont typeface="Wingdings"/>
              <a:buChar char="§"/>
            </a:pPr>
            <a:endParaRPr lang="en-US" sz="1600">
              <a:ea typeface="+mn-lt"/>
              <a:cs typeface="+mn-lt"/>
            </a:endParaRPr>
          </a:p>
          <a:p>
            <a:pPr marL="457200" indent="-228600">
              <a:buSzPts val="1800"/>
              <a:buChar char="•"/>
            </a:pPr>
            <a:endParaRPr lang="en-US" sz="2000">
              <a:solidFill>
                <a:srgbClr val="000000"/>
              </a:solidFill>
            </a:endParaRPr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QUERY PLAN                                                               </a:t>
            </a:r>
            <a:endParaRPr lang="en-US"/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-------------------------------------------------------------------------</a:t>
            </a:r>
            <a:endParaRPr lang="en-US"/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Hash Join  (cost=29.48..4037.24 rows=25518 width=41)                     </a:t>
            </a:r>
            <a:endParaRPr lang="en-US"/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  Hash Cond: (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o.customer_id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= c.id)                                      </a:t>
            </a:r>
            <a:endParaRPr lang="en-US"/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  -&gt;  Seq Scan on orders o  (cost=0.00..3582.00 rows=161509 width=14)    </a:t>
            </a:r>
            <a:endParaRPr lang="en-US" sz="2400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        Filter: (total &gt; '100'::numeric)                                 </a:t>
            </a:r>
            <a:endParaRPr lang="en-US"/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  -&gt;  Hash  (cost=27.50..27.50 rows=158 width=27)                        </a:t>
            </a:r>
            <a:endParaRPr lang="en-US"/>
          </a:p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        -&gt;  Seq Scan on customers c  (cost=0.00..27.50 rows=158 width=27)</a:t>
            </a:r>
            <a:endParaRPr lang="en-US"/>
          </a:p>
          <a:p>
            <a:pPr marL="114300" indent="0">
              <a:buNone/>
            </a:pPr>
            <a:r>
              <a:rPr lang="en-US" sz="2400">
                <a:ea typeface="+mn-lt"/>
                <a:cs typeface="+mn-lt"/>
              </a:rPr>
              <a:t>              Filter: ((country)::text = 'France'::text)</a:t>
            </a:r>
            <a:endParaRPr lang="en-US"/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endParaRPr 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646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69E18966-8C28-FD3F-AA38-0248983C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FFCE6DFC-258C-C3D2-C812-A1B48D0D2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36398C2-F213-E537-F0FC-64CD018DA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EE2ABB50-B52B-D0D6-C055-C6E94B801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5641" y="490804"/>
            <a:ext cx="7375161" cy="80010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2500" err="1">
                <a:solidFill>
                  <a:schemeClr val="tx2"/>
                </a:solidFill>
              </a:rPr>
              <a:t>Exemplu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B6477702-F46C-FF2B-BDF4-73CF19FBA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198086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D7D2DE4-8271-CCD0-D58D-474BB6C98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288D1C6-FDCE-503F-AADA-2C8D36824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7DEA2F3-6DF8-ED77-3450-F19C48878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052108CE-6EB4-97CE-D2C6-95CF871DA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DDFD1D0-D000-CBA5-F92B-01A5047F3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1517938"/>
            <a:ext cx="7375161" cy="29782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fontScale="77500" lnSpcReduction="20000"/>
          </a:bodyPr>
          <a:lstStyle/>
          <a:p>
            <a:pPr marL="0" indent="0">
              <a:buSzPts val="1400"/>
              <a:buNone/>
            </a:pPr>
            <a:r>
              <a:rPr lang="en-US" sz="2000" err="1">
                <a:ea typeface="+mn-lt"/>
                <a:cs typeface="+mn-lt"/>
              </a:rPr>
              <a:t>Avem</a:t>
            </a:r>
            <a:r>
              <a:rPr lang="en-US" sz="2000">
                <a:ea typeface="+mn-lt"/>
                <a:cs typeface="+mn-lt"/>
              </a:rPr>
              <a:t>:</a:t>
            </a:r>
            <a:endParaRPr lang="en-US" sz="2400">
              <a:ea typeface="+mn-lt"/>
              <a:cs typeface="+mn-lt"/>
            </a:endParaRPr>
          </a:p>
          <a:p>
            <a:pPr marL="285750" indent="-285750">
              <a:buSzPts val="1400"/>
            </a:pPr>
            <a:r>
              <a:rPr lang="en-US" sz="2000" err="1">
                <a:latin typeface="Consolas"/>
                <a:ea typeface="+mn-lt"/>
                <a:cs typeface="+mn-lt"/>
              </a:rPr>
              <a:t>facturi</a:t>
            </a:r>
            <a:r>
              <a:rPr lang="en-US" sz="2000">
                <a:ea typeface="+mn-lt"/>
                <a:cs typeface="+mn-lt"/>
              </a:rPr>
              <a:t> = 3.000.000 </a:t>
            </a:r>
            <a:r>
              <a:rPr lang="en-US" sz="2000" err="1">
                <a:ea typeface="+mn-lt"/>
                <a:cs typeface="+mn-lt"/>
              </a:rPr>
              <a:t>rânduri</a:t>
            </a:r>
            <a:r>
              <a:rPr lang="en-US" sz="2000">
                <a:ea typeface="+mn-lt"/>
                <a:cs typeface="+mn-lt"/>
              </a:rPr>
              <a:t> </a:t>
            </a:r>
          </a:p>
          <a:p>
            <a:pPr marL="285750" indent="-285750">
              <a:buSzPts val="1400"/>
            </a:pPr>
            <a:r>
              <a:rPr lang="en-US" sz="2000" err="1">
                <a:latin typeface="Consolas"/>
                <a:ea typeface="+mn-lt"/>
                <a:cs typeface="+mn-lt"/>
              </a:rPr>
              <a:t>furnizori</a:t>
            </a:r>
            <a:r>
              <a:rPr lang="en-US" sz="2000">
                <a:ea typeface="+mn-lt"/>
                <a:cs typeface="+mn-lt"/>
              </a:rPr>
              <a:t> = 20.000 </a:t>
            </a:r>
            <a:r>
              <a:rPr lang="en-US" sz="2000" err="1">
                <a:ea typeface="+mn-lt"/>
                <a:cs typeface="+mn-lt"/>
              </a:rPr>
              <a:t>rânduri</a:t>
            </a:r>
            <a:r>
              <a:rPr lang="en-US" sz="2000">
                <a:ea typeface="+mn-lt"/>
                <a:cs typeface="+mn-lt"/>
              </a:rPr>
              <a:t> </a:t>
            </a:r>
          </a:p>
          <a:p>
            <a:pPr marL="285750" indent="-285750">
              <a:buSzPts val="1400"/>
            </a:pPr>
            <a:r>
              <a:rPr lang="en-US" sz="2000" err="1">
                <a:latin typeface="Consolas"/>
                <a:ea typeface="+mn-lt"/>
                <a:cs typeface="+mn-lt"/>
              </a:rPr>
              <a:t>regiuni</a:t>
            </a:r>
            <a:r>
              <a:rPr lang="en-US" sz="2000">
                <a:ea typeface="+mn-lt"/>
                <a:cs typeface="+mn-lt"/>
              </a:rPr>
              <a:t> = 50 </a:t>
            </a:r>
            <a:r>
              <a:rPr lang="en-US" sz="2000" err="1">
                <a:ea typeface="+mn-lt"/>
                <a:cs typeface="+mn-lt"/>
              </a:rPr>
              <a:t>rânduri</a:t>
            </a:r>
          </a:p>
          <a:p>
            <a:pPr>
              <a:buSzPts val="1400"/>
              <a:buNone/>
            </a:pPr>
            <a:endParaRPr lang="en-US" sz="2000"/>
          </a:p>
          <a:p>
            <a:pPr marL="1200150" lvl="2">
              <a:buSzPts val="1800"/>
              <a:buFont typeface="Wingdings"/>
              <a:buChar char="§"/>
            </a:pPr>
            <a:endParaRPr lang="en-US" sz="1600">
              <a:ea typeface="+mn-lt"/>
              <a:cs typeface="+mn-lt"/>
            </a:endParaRPr>
          </a:p>
          <a:p>
            <a:pPr marL="457200" indent="-228600">
              <a:buSzPts val="1800"/>
              <a:buChar char="•"/>
            </a:pPr>
            <a:endParaRPr lang="en-US" sz="2000">
              <a:solidFill>
                <a:srgbClr val="000000"/>
              </a:solidFill>
            </a:endParaRPr>
          </a:p>
          <a:p>
            <a:pPr marL="114300" indent="0">
              <a:buNone/>
            </a:pPr>
            <a:r>
              <a:rPr lang="en-US" sz="2400">
                <a:solidFill>
                  <a:srgbClr val="000000"/>
                </a:solidFill>
              </a:rPr>
              <a:t>SQL: </a:t>
            </a:r>
          </a:p>
          <a:p>
            <a:pPr lvl="1">
              <a:buNone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SELECT *FROM </a:t>
            </a: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facturi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f</a:t>
            </a:r>
            <a:endParaRPr lang="en-US"/>
          </a:p>
          <a:p>
            <a:pPr lvl="1">
              <a:buNone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JOIN </a:t>
            </a: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furnizori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s ON </a:t>
            </a: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f.furnizor_id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= s.id</a:t>
            </a:r>
            <a:endParaRPr lang="en-US"/>
          </a:p>
          <a:p>
            <a:pPr lvl="1">
              <a:buNone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JOIN </a:t>
            </a: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regiuni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r ON </a:t>
            </a: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s.regiune_id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= r.id</a:t>
            </a:r>
            <a:endParaRPr lang="en-US"/>
          </a:p>
          <a:p>
            <a:pPr lvl="1">
              <a:buNone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WHERE </a:t>
            </a: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r.nume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= 'Europa'</a:t>
            </a:r>
            <a:endParaRPr lang="en-US"/>
          </a:p>
          <a:p>
            <a:pPr lvl="1">
              <a:buNone/>
            </a:pPr>
            <a:endParaRPr lang="en-US" sz="1600"/>
          </a:p>
          <a:p>
            <a:pPr>
              <a:buNone/>
            </a:pPr>
            <a:r>
              <a:rPr lang="en-US" sz="2000"/>
              <a:t>Care e </a:t>
            </a:r>
            <a:r>
              <a:rPr lang="en-US" sz="2000" err="1"/>
              <a:t>ordinea</a:t>
            </a:r>
            <a:r>
              <a:rPr lang="en-US" sz="2000"/>
              <a:t> </a:t>
            </a:r>
            <a:r>
              <a:rPr lang="en-US" sz="2000" err="1"/>
              <a:t>tabelelor</a:t>
            </a:r>
            <a:r>
              <a:rPr lang="en-US" sz="2000"/>
              <a:t> din </a:t>
            </a:r>
            <a:r>
              <a:rPr lang="en-US" sz="2000" err="1"/>
              <a:t>sql</a:t>
            </a:r>
            <a:r>
              <a:rPr lang="en-US" sz="2000"/>
              <a:t>?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endParaRPr 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194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EC139428-F133-A898-0D20-89562DCE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5F69E14B-6AB7-E8D5-1CD0-DCFA98244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8108F18-0394-FE31-2636-C4EDD8E1F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3188CA9-716E-FB28-254B-DF26F8CD3E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5641" y="490804"/>
            <a:ext cx="7375161" cy="39793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sz="2500" err="1">
                <a:solidFill>
                  <a:schemeClr val="tx2"/>
                </a:solidFill>
              </a:rPr>
              <a:t>Exemplu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FE383B8-87F9-496F-8F42-A022AA530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198086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130EDCD-8E72-F182-3C33-6259929A8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15D52D-09DD-07C7-1CDD-CB7204F6A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9425D383-E764-9E73-4C30-631D9C7A6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107D855F-22CC-F5B2-59BD-412A598E7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D4AD5374-CCEE-C6E9-BFD8-225F99F6C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826494"/>
            <a:ext cx="7375161" cy="419179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lnSpcReduction="10000"/>
          </a:bodyPr>
          <a:lstStyle/>
          <a:p>
            <a:pPr>
              <a:buNone/>
            </a:pPr>
            <a:r>
              <a:rPr lang="en-US" sz="1200">
                <a:ea typeface="+mn-lt"/>
                <a:cs typeface="+mn-lt"/>
              </a:rPr>
              <a:t>SELECT </a:t>
            </a:r>
            <a:r>
              <a:rPr lang="en-US" sz="1200" err="1">
                <a:ea typeface="+mn-lt"/>
                <a:cs typeface="+mn-lt"/>
              </a:rPr>
              <a:t>c.nume_client</a:t>
            </a:r>
            <a:r>
              <a:rPr lang="en-US" sz="1200">
                <a:ea typeface="+mn-lt"/>
                <a:cs typeface="+mn-lt"/>
              </a:rPr>
              <a:t>,  </a:t>
            </a:r>
            <a:r>
              <a:rPr lang="en-US" sz="1200" err="1">
                <a:ea typeface="+mn-lt"/>
                <a:cs typeface="+mn-lt"/>
              </a:rPr>
              <a:t>o.id_comanda</a:t>
            </a:r>
            <a:r>
              <a:rPr lang="en-US" sz="1200">
                <a:ea typeface="+mn-lt"/>
                <a:cs typeface="+mn-lt"/>
              </a:rPr>
              <a:t>,  </a:t>
            </a:r>
            <a:r>
              <a:rPr lang="en-US" sz="1200" err="1">
                <a:ea typeface="+mn-lt"/>
                <a:cs typeface="+mn-lt"/>
              </a:rPr>
              <a:t>p.nume_produs</a:t>
            </a:r>
            <a:r>
              <a:rPr lang="en-US" sz="1200">
                <a:ea typeface="+mn-lt"/>
                <a:cs typeface="+mn-lt"/>
              </a:rPr>
              <a:t>,  </a:t>
            </a:r>
            <a:r>
              <a:rPr lang="en-US" sz="1200" err="1">
                <a:ea typeface="+mn-lt"/>
                <a:cs typeface="+mn-lt"/>
              </a:rPr>
              <a:t>f.nume_furnizor</a:t>
            </a:r>
            <a:r>
              <a:rPr lang="en-US" sz="1200">
                <a:ea typeface="+mn-lt"/>
                <a:cs typeface="+mn-lt"/>
              </a:rPr>
              <a:t>,  </a:t>
            </a:r>
            <a:r>
              <a:rPr lang="en-US" sz="1200" err="1">
                <a:ea typeface="+mn-lt"/>
                <a:cs typeface="+mn-lt"/>
              </a:rPr>
              <a:t>a.oras</a:t>
            </a:r>
            <a:r>
              <a:rPr lang="en-US" sz="1200">
                <a:ea typeface="+mn-lt"/>
                <a:cs typeface="+mn-lt"/>
              </a:rPr>
              <a:t>,  </a:t>
            </a:r>
            <a:r>
              <a:rPr lang="en-US" sz="1200" err="1">
                <a:ea typeface="+mn-lt"/>
                <a:cs typeface="+mn-lt"/>
              </a:rPr>
              <a:t>t.nume_tara</a:t>
            </a:r>
            <a:endParaRPr lang="en-US" sz="1200"/>
          </a:p>
          <a:p>
            <a:pPr>
              <a:buNone/>
            </a:pPr>
            <a:endParaRPr lang="en-US" sz="1200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FROM </a:t>
            </a:r>
            <a:r>
              <a:rPr lang="en-US" sz="1200" err="1">
                <a:ea typeface="+mn-lt"/>
                <a:cs typeface="+mn-lt"/>
              </a:rPr>
              <a:t>clienti</a:t>
            </a:r>
            <a:r>
              <a:rPr lang="en-US" sz="1200">
                <a:ea typeface="+mn-lt"/>
                <a:cs typeface="+mn-lt"/>
              </a:rPr>
              <a:t> c JOIN </a:t>
            </a:r>
            <a:r>
              <a:rPr lang="en-US" sz="1200" err="1">
                <a:ea typeface="+mn-lt"/>
                <a:cs typeface="+mn-lt"/>
              </a:rPr>
              <a:t>comenzi</a:t>
            </a:r>
            <a:r>
              <a:rPr lang="en-US" sz="1200">
                <a:ea typeface="+mn-lt"/>
                <a:cs typeface="+mn-lt"/>
              </a:rPr>
              <a:t> o  ON </a:t>
            </a:r>
            <a:r>
              <a:rPr lang="en-US" sz="1200" err="1">
                <a:ea typeface="+mn-lt"/>
                <a:cs typeface="+mn-lt"/>
              </a:rPr>
              <a:t>c.id_client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o.id_client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  JOIN </a:t>
            </a:r>
            <a:r>
              <a:rPr lang="en-US" sz="1200" err="1">
                <a:ea typeface="+mn-lt"/>
                <a:cs typeface="+mn-lt"/>
              </a:rPr>
              <a:t>linii_comanda</a:t>
            </a:r>
            <a:r>
              <a:rPr lang="en-US" sz="1200">
                <a:ea typeface="+mn-lt"/>
                <a:cs typeface="+mn-lt"/>
              </a:rPr>
              <a:t> lc  ON </a:t>
            </a:r>
            <a:r>
              <a:rPr lang="en-US" sz="1200" err="1">
                <a:ea typeface="+mn-lt"/>
                <a:cs typeface="+mn-lt"/>
              </a:rPr>
              <a:t>o.id_comanda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lc.id_comanda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  JOIN </a:t>
            </a:r>
            <a:r>
              <a:rPr lang="en-US" sz="1200" err="1">
                <a:ea typeface="+mn-lt"/>
                <a:cs typeface="+mn-lt"/>
              </a:rPr>
              <a:t>produse</a:t>
            </a:r>
            <a:r>
              <a:rPr lang="en-US" sz="1200">
                <a:ea typeface="+mn-lt"/>
                <a:cs typeface="+mn-lt"/>
              </a:rPr>
              <a:t> p ON </a:t>
            </a:r>
            <a:r>
              <a:rPr lang="en-US" sz="1200" err="1">
                <a:ea typeface="+mn-lt"/>
                <a:cs typeface="+mn-lt"/>
              </a:rPr>
              <a:t>lc.id_produs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p.id_produs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  JOIN </a:t>
            </a:r>
            <a:r>
              <a:rPr lang="en-US" sz="1200" err="1">
                <a:ea typeface="+mn-lt"/>
                <a:cs typeface="+mn-lt"/>
              </a:rPr>
              <a:t>furnizori</a:t>
            </a:r>
            <a:r>
              <a:rPr lang="en-US" sz="1200">
                <a:ea typeface="+mn-lt"/>
                <a:cs typeface="+mn-lt"/>
              </a:rPr>
              <a:t> f  ON </a:t>
            </a:r>
            <a:r>
              <a:rPr lang="en-US" sz="1200" err="1">
                <a:ea typeface="+mn-lt"/>
                <a:cs typeface="+mn-lt"/>
              </a:rPr>
              <a:t>p.id_furnizor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f.id_furnizor</a:t>
            </a:r>
            <a:endParaRPr lang="en-US" sz="1200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    JOIN </a:t>
            </a:r>
            <a:r>
              <a:rPr lang="en-US" sz="1200" err="1">
                <a:ea typeface="+mn-lt"/>
                <a:cs typeface="+mn-lt"/>
              </a:rPr>
              <a:t>adrese</a:t>
            </a:r>
            <a:r>
              <a:rPr lang="en-US" sz="1200">
                <a:ea typeface="+mn-lt"/>
                <a:cs typeface="+mn-lt"/>
              </a:rPr>
              <a:t> a ON </a:t>
            </a:r>
            <a:r>
              <a:rPr lang="en-US" sz="1200" err="1">
                <a:ea typeface="+mn-lt"/>
                <a:cs typeface="+mn-lt"/>
              </a:rPr>
              <a:t>c.id_adresa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a.id_adresa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  JOIN tari t ON </a:t>
            </a:r>
            <a:r>
              <a:rPr lang="en-US" sz="1200" err="1">
                <a:ea typeface="+mn-lt"/>
                <a:cs typeface="+mn-lt"/>
              </a:rPr>
              <a:t>a.id_tara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t.id_tara</a:t>
            </a:r>
            <a:endParaRPr lang="en-US" sz="1200"/>
          </a:p>
          <a:p>
            <a:pPr>
              <a:buNone/>
            </a:pPr>
            <a:endParaRPr lang="en-US" sz="1200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WHERE 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</a:t>
            </a:r>
            <a:r>
              <a:rPr lang="en-US" sz="1200" err="1">
                <a:ea typeface="+mn-lt"/>
                <a:cs typeface="+mn-lt"/>
              </a:rPr>
              <a:t>c.status_client</a:t>
            </a:r>
            <a:r>
              <a:rPr lang="en-US" sz="1200">
                <a:ea typeface="+mn-lt"/>
                <a:cs typeface="+mn-lt"/>
              </a:rPr>
              <a:t> = 'ACTIV'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 AND </a:t>
            </a:r>
            <a:r>
              <a:rPr lang="en-US" sz="1200" err="1">
                <a:ea typeface="+mn-lt"/>
                <a:cs typeface="+mn-lt"/>
              </a:rPr>
              <a:t>o.status</a:t>
            </a:r>
            <a:r>
              <a:rPr lang="en-US" sz="1200">
                <a:ea typeface="+mn-lt"/>
                <a:cs typeface="+mn-lt"/>
              </a:rPr>
              <a:t> = 'FINALIZATA'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 AND </a:t>
            </a:r>
            <a:r>
              <a:rPr lang="en-US" sz="1200" err="1">
                <a:ea typeface="+mn-lt"/>
                <a:cs typeface="+mn-lt"/>
              </a:rPr>
              <a:t>o.valoare_totala</a:t>
            </a:r>
            <a:r>
              <a:rPr lang="en-US" sz="1200">
                <a:ea typeface="+mn-lt"/>
                <a:cs typeface="+mn-lt"/>
              </a:rPr>
              <a:t> &gt; 10000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 AND </a:t>
            </a:r>
            <a:r>
              <a:rPr lang="en-US" sz="1200" err="1">
                <a:ea typeface="+mn-lt"/>
                <a:cs typeface="+mn-lt"/>
              </a:rPr>
              <a:t>p.stoc</a:t>
            </a:r>
            <a:r>
              <a:rPr lang="en-US" sz="1200">
                <a:ea typeface="+mn-lt"/>
                <a:cs typeface="+mn-lt"/>
              </a:rPr>
              <a:t> &gt; 0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 AND </a:t>
            </a:r>
            <a:r>
              <a:rPr lang="en-US" sz="1200" err="1">
                <a:ea typeface="+mn-lt"/>
                <a:cs typeface="+mn-lt"/>
              </a:rPr>
              <a:t>p.categorie</a:t>
            </a:r>
            <a:r>
              <a:rPr lang="en-US" sz="1200">
                <a:ea typeface="+mn-lt"/>
                <a:cs typeface="+mn-lt"/>
              </a:rPr>
              <a:t> = 'Laptop'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 AND </a:t>
            </a:r>
            <a:r>
              <a:rPr lang="en-US" sz="1200" err="1">
                <a:ea typeface="+mn-lt"/>
                <a:cs typeface="+mn-lt"/>
              </a:rPr>
              <a:t>f.tara_origine</a:t>
            </a:r>
            <a:r>
              <a:rPr lang="en-US" sz="1200">
                <a:ea typeface="+mn-lt"/>
                <a:cs typeface="+mn-lt"/>
              </a:rPr>
              <a:t> = 'Germania'</a:t>
            </a:r>
            <a:endParaRPr lang="en-US" sz="1200"/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  AND </a:t>
            </a:r>
            <a:r>
              <a:rPr lang="en-US" sz="1200" err="1">
                <a:ea typeface="+mn-lt"/>
                <a:cs typeface="+mn-lt"/>
              </a:rPr>
              <a:t>a.oras</a:t>
            </a:r>
            <a:r>
              <a:rPr lang="en-US" sz="1200">
                <a:ea typeface="+mn-lt"/>
                <a:cs typeface="+mn-lt"/>
              </a:rPr>
              <a:t> = '</a:t>
            </a:r>
            <a:r>
              <a:rPr lang="en-US" sz="1200" err="1">
                <a:ea typeface="+mn-lt"/>
                <a:cs typeface="+mn-lt"/>
              </a:rPr>
              <a:t>Bucuresti</a:t>
            </a:r>
            <a:r>
              <a:rPr lang="en-US" sz="1200">
                <a:ea typeface="+mn-lt"/>
                <a:cs typeface="+mn-lt"/>
              </a:rPr>
              <a:t>'</a:t>
            </a:r>
            <a:endParaRPr lang="en-US" sz="1200"/>
          </a:p>
          <a:p>
            <a:pPr marL="0" indent="0">
              <a:buNone/>
            </a:pPr>
            <a:r>
              <a:rPr lang="en-US" sz="1200">
                <a:ea typeface="+mn-lt"/>
                <a:cs typeface="+mn-lt"/>
              </a:rPr>
              <a:t>   AND </a:t>
            </a:r>
            <a:r>
              <a:rPr lang="en-US" sz="1200" err="1">
                <a:ea typeface="+mn-lt"/>
                <a:cs typeface="+mn-lt"/>
              </a:rPr>
              <a:t>t.nume_tara</a:t>
            </a:r>
            <a:r>
              <a:rPr lang="en-US" sz="1200">
                <a:ea typeface="+mn-lt"/>
                <a:cs typeface="+mn-lt"/>
              </a:rPr>
              <a:t> = 'Romania';</a:t>
            </a:r>
            <a:endParaRPr lang="en-US" sz="1200"/>
          </a:p>
          <a:p>
            <a:pPr lvl="1">
              <a:buNone/>
            </a:pPr>
            <a:endParaRPr lang="en-US" sz="1000"/>
          </a:p>
          <a:p>
            <a:pPr>
              <a:buNone/>
            </a:pPr>
            <a:r>
              <a:rPr lang="en-US" sz="2000"/>
              <a:t>Cum se </a:t>
            </a:r>
            <a:r>
              <a:rPr lang="en-US" sz="2000" err="1"/>
              <a:t>rescrie</a:t>
            </a:r>
            <a:r>
              <a:rPr lang="en-US" sz="2000"/>
              <a:t> </a:t>
            </a:r>
            <a:r>
              <a:rPr lang="en-US" sz="2000" err="1"/>
              <a:t>optimizat</a:t>
            </a:r>
            <a:r>
              <a:rPr lang="en-US" sz="2000"/>
              <a:t> </a:t>
            </a:r>
            <a:r>
              <a:rPr lang="en-US" sz="2000" err="1"/>
              <a:t>sql</a:t>
            </a:r>
            <a:r>
              <a:rPr lang="en-US" sz="2000"/>
              <a:t>-ul?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endParaRPr 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61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608D89EF-8CE0-EF8E-EB74-8D0505C3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E1040E79-8F7B-DC4E-5E52-F9775254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66D3AC6-AF77-90C4-5C24-E6ECBAA95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D76BAC5-8853-2A0F-1912-FE652A901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5641" y="490804"/>
            <a:ext cx="7375161" cy="39793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sz="2500" err="1">
                <a:solidFill>
                  <a:schemeClr val="tx2"/>
                </a:solidFill>
              </a:rPr>
              <a:t>Solutie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CC7A4CE-48D9-64B1-BFB3-04958D163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198086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DB0F156-DA31-A764-CE32-45AC4C55A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0680F734-3F87-8BA0-7787-44FDB8DE7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61297EE-135D-8B50-0E17-86384D3C9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7A321EA-CAFE-FCF8-A13D-D9FE71E1B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DD4544E-78B7-E812-0103-8F38185957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826494"/>
            <a:ext cx="7375161" cy="419179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buNone/>
            </a:pPr>
            <a:r>
              <a:rPr lang="en-US" sz="1200">
                <a:ea typeface="+mn-lt"/>
                <a:cs typeface="+mn-lt"/>
              </a:rPr>
              <a:t>SELECT </a:t>
            </a:r>
            <a:r>
              <a:rPr lang="en-US" sz="1200" err="1">
                <a:ea typeface="+mn-lt"/>
                <a:cs typeface="+mn-lt"/>
              </a:rPr>
              <a:t>c.nume_client</a:t>
            </a:r>
            <a:r>
              <a:rPr lang="en-US" sz="120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o.id_comanda</a:t>
            </a:r>
            <a:r>
              <a:rPr lang="en-US" sz="120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p.nume_produs</a:t>
            </a:r>
            <a:r>
              <a:rPr lang="en-US" sz="120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f.nume_furnizor</a:t>
            </a:r>
            <a:r>
              <a:rPr lang="en-US" sz="120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a.oras</a:t>
            </a:r>
            <a:r>
              <a:rPr lang="en-US" sz="1200">
                <a:ea typeface="+mn-lt"/>
                <a:cs typeface="+mn-lt"/>
              </a:rPr>
              <a:t>, </a:t>
            </a:r>
            <a:r>
              <a:rPr lang="en-US" sz="1200" err="1">
                <a:ea typeface="+mn-lt"/>
                <a:cs typeface="+mn-lt"/>
              </a:rPr>
              <a:t>t.nume_tara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FROM tari t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JOIN </a:t>
            </a:r>
            <a:r>
              <a:rPr lang="en-US" sz="1200" err="1">
                <a:ea typeface="+mn-lt"/>
                <a:cs typeface="+mn-lt"/>
              </a:rPr>
              <a:t>adrese</a:t>
            </a:r>
            <a:r>
              <a:rPr lang="en-US" sz="1200">
                <a:ea typeface="+mn-lt"/>
                <a:cs typeface="+mn-lt"/>
              </a:rPr>
              <a:t> a ON </a:t>
            </a:r>
            <a:r>
              <a:rPr lang="en-US" sz="1200" err="1">
                <a:ea typeface="+mn-lt"/>
                <a:cs typeface="+mn-lt"/>
              </a:rPr>
              <a:t>t.id_tara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a.id_tara</a:t>
            </a:r>
            <a:r>
              <a:rPr lang="en-US" sz="1200">
                <a:ea typeface="+mn-lt"/>
                <a:cs typeface="+mn-lt"/>
              </a:rPr>
              <a:t> AND </a:t>
            </a:r>
            <a:r>
              <a:rPr lang="en-US" sz="1200" err="1">
                <a:ea typeface="+mn-lt"/>
                <a:cs typeface="+mn-lt"/>
              </a:rPr>
              <a:t>a.oras</a:t>
            </a:r>
            <a:r>
              <a:rPr lang="en-US" sz="1200">
                <a:ea typeface="+mn-lt"/>
                <a:cs typeface="+mn-lt"/>
              </a:rPr>
              <a:t> = '</a:t>
            </a:r>
            <a:r>
              <a:rPr lang="en-US" sz="1200" err="1">
                <a:ea typeface="+mn-lt"/>
                <a:cs typeface="+mn-lt"/>
              </a:rPr>
              <a:t>Bucuresti</a:t>
            </a:r>
            <a:r>
              <a:rPr lang="en-US" sz="1200">
                <a:ea typeface="+mn-lt"/>
                <a:cs typeface="+mn-lt"/>
              </a:rPr>
              <a:t>'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JOIN </a:t>
            </a:r>
            <a:r>
              <a:rPr lang="en-US" sz="1200" err="1">
                <a:ea typeface="+mn-lt"/>
                <a:cs typeface="+mn-lt"/>
              </a:rPr>
              <a:t>clienti</a:t>
            </a:r>
            <a:r>
              <a:rPr lang="en-US" sz="1200">
                <a:ea typeface="+mn-lt"/>
                <a:cs typeface="+mn-lt"/>
              </a:rPr>
              <a:t> c ON </a:t>
            </a:r>
            <a:r>
              <a:rPr lang="en-US" sz="1200" err="1">
                <a:ea typeface="+mn-lt"/>
                <a:cs typeface="+mn-lt"/>
              </a:rPr>
              <a:t>a.id_adresa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c.id_adresa</a:t>
            </a:r>
            <a:r>
              <a:rPr lang="en-US" sz="1200">
                <a:ea typeface="+mn-lt"/>
                <a:cs typeface="+mn-lt"/>
              </a:rPr>
              <a:t> AND </a:t>
            </a:r>
            <a:r>
              <a:rPr lang="en-US" sz="1200" err="1">
                <a:ea typeface="+mn-lt"/>
                <a:cs typeface="+mn-lt"/>
              </a:rPr>
              <a:t>c.status_client</a:t>
            </a:r>
            <a:r>
              <a:rPr lang="en-US" sz="1200">
                <a:ea typeface="+mn-lt"/>
                <a:cs typeface="+mn-lt"/>
              </a:rPr>
              <a:t> = 'ACTIV'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JOIN </a:t>
            </a:r>
            <a:r>
              <a:rPr lang="en-US" sz="1200" err="1">
                <a:ea typeface="+mn-lt"/>
                <a:cs typeface="+mn-lt"/>
              </a:rPr>
              <a:t>comenzi</a:t>
            </a:r>
            <a:r>
              <a:rPr lang="en-US" sz="1200">
                <a:ea typeface="+mn-lt"/>
                <a:cs typeface="+mn-lt"/>
              </a:rPr>
              <a:t> o ON </a:t>
            </a:r>
            <a:r>
              <a:rPr lang="en-US" sz="1200" err="1">
                <a:ea typeface="+mn-lt"/>
                <a:cs typeface="+mn-lt"/>
              </a:rPr>
              <a:t>c.id_client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o.id_client</a:t>
            </a:r>
            <a:r>
              <a:rPr lang="en-US" sz="1200">
                <a:ea typeface="+mn-lt"/>
                <a:cs typeface="+mn-lt"/>
              </a:rPr>
              <a:t> AND </a:t>
            </a:r>
            <a:r>
              <a:rPr lang="en-US" sz="1200" err="1">
                <a:ea typeface="+mn-lt"/>
                <a:cs typeface="+mn-lt"/>
              </a:rPr>
              <a:t>o.status</a:t>
            </a:r>
            <a:r>
              <a:rPr lang="en-US" sz="1200">
                <a:ea typeface="+mn-lt"/>
                <a:cs typeface="+mn-lt"/>
              </a:rPr>
              <a:t> = 'FINALIZATA'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AND </a:t>
            </a:r>
            <a:r>
              <a:rPr lang="en-US" sz="1200" err="1">
                <a:ea typeface="+mn-lt"/>
                <a:cs typeface="+mn-lt"/>
              </a:rPr>
              <a:t>o.valoare_totala</a:t>
            </a:r>
            <a:r>
              <a:rPr lang="en-US" sz="1200">
                <a:ea typeface="+mn-lt"/>
                <a:cs typeface="+mn-lt"/>
              </a:rPr>
              <a:t> &gt; 10000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JOIN </a:t>
            </a:r>
            <a:r>
              <a:rPr lang="en-US" sz="1200" err="1">
                <a:ea typeface="+mn-lt"/>
                <a:cs typeface="+mn-lt"/>
              </a:rPr>
              <a:t>linii_comanda</a:t>
            </a:r>
            <a:r>
              <a:rPr lang="en-US" sz="1200">
                <a:ea typeface="+mn-lt"/>
                <a:cs typeface="+mn-lt"/>
              </a:rPr>
              <a:t> lc ON </a:t>
            </a:r>
            <a:r>
              <a:rPr lang="en-US" sz="1200" err="1">
                <a:ea typeface="+mn-lt"/>
                <a:cs typeface="+mn-lt"/>
              </a:rPr>
              <a:t>o.id_comanda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lc.id_comanda</a:t>
            </a: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JOIN </a:t>
            </a:r>
            <a:r>
              <a:rPr lang="en-US" sz="1200" err="1">
                <a:ea typeface="+mn-lt"/>
                <a:cs typeface="+mn-lt"/>
              </a:rPr>
              <a:t>produse</a:t>
            </a:r>
            <a:r>
              <a:rPr lang="en-US" sz="1200">
                <a:ea typeface="+mn-lt"/>
                <a:cs typeface="+mn-lt"/>
              </a:rPr>
              <a:t> p ON </a:t>
            </a:r>
            <a:r>
              <a:rPr lang="en-US" sz="1200" err="1">
                <a:ea typeface="+mn-lt"/>
                <a:cs typeface="+mn-lt"/>
              </a:rPr>
              <a:t>lc.id_produs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p.id_produs</a:t>
            </a:r>
            <a:r>
              <a:rPr lang="en-US" sz="1200">
                <a:ea typeface="+mn-lt"/>
                <a:cs typeface="+mn-lt"/>
              </a:rPr>
              <a:t> AND </a:t>
            </a:r>
            <a:r>
              <a:rPr lang="en-US" sz="1200" err="1">
                <a:ea typeface="+mn-lt"/>
                <a:cs typeface="+mn-lt"/>
              </a:rPr>
              <a:t>p.categorie</a:t>
            </a:r>
            <a:r>
              <a:rPr lang="en-US" sz="1200">
                <a:ea typeface="+mn-lt"/>
                <a:cs typeface="+mn-lt"/>
              </a:rPr>
              <a:t> = 'Laptop' AND </a:t>
            </a:r>
            <a:r>
              <a:rPr lang="en-US" sz="1200" err="1">
                <a:ea typeface="+mn-lt"/>
                <a:cs typeface="+mn-lt"/>
              </a:rPr>
              <a:t>p.stoc</a:t>
            </a:r>
            <a:r>
              <a:rPr lang="en-US" sz="1200">
                <a:ea typeface="+mn-lt"/>
                <a:cs typeface="+mn-lt"/>
              </a:rPr>
              <a:t> &gt; 0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JOIN </a:t>
            </a:r>
            <a:r>
              <a:rPr lang="en-US" sz="1200" err="1">
                <a:ea typeface="+mn-lt"/>
                <a:cs typeface="+mn-lt"/>
              </a:rPr>
              <a:t>furnizori</a:t>
            </a:r>
            <a:r>
              <a:rPr lang="en-US" sz="1200">
                <a:ea typeface="+mn-lt"/>
                <a:cs typeface="+mn-lt"/>
              </a:rPr>
              <a:t> f ON </a:t>
            </a:r>
            <a:r>
              <a:rPr lang="en-US" sz="1200" err="1">
                <a:ea typeface="+mn-lt"/>
                <a:cs typeface="+mn-lt"/>
              </a:rPr>
              <a:t>p.id_furnizor</a:t>
            </a:r>
            <a:r>
              <a:rPr lang="en-US" sz="1200">
                <a:ea typeface="+mn-lt"/>
                <a:cs typeface="+mn-lt"/>
              </a:rPr>
              <a:t> = </a:t>
            </a:r>
            <a:r>
              <a:rPr lang="en-US" sz="1200" err="1">
                <a:ea typeface="+mn-lt"/>
                <a:cs typeface="+mn-lt"/>
              </a:rPr>
              <a:t>f.id_furnizor</a:t>
            </a:r>
            <a:r>
              <a:rPr lang="en-US" sz="1200">
                <a:ea typeface="+mn-lt"/>
                <a:cs typeface="+mn-lt"/>
              </a:rPr>
              <a:t> AND </a:t>
            </a:r>
            <a:r>
              <a:rPr lang="en-US" sz="1200" err="1">
                <a:ea typeface="+mn-lt"/>
                <a:cs typeface="+mn-lt"/>
              </a:rPr>
              <a:t>f.tara_origine</a:t>
            </a:r>
            <a:r>
              <a:rPr lang="en-US" sz="1200">
                <a:ea typeface="+mn-lt"/>
                <a:cs typeface="+mn-lt"/>
              </a:rPr>
              <a:t> = 'Germania'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ea typeface="+mn-lt"/>
                <a:cs typeface="+mn-lt"/>
              </a:rPr>
              <a:t>WHERE </a:t>
            </a:r>
            <a:r>
              <a:rPr lang="en-US" sz="1200" err="1">
                <a:ea typeface="+mn-lt"/>
                <a:cs typeface="+mn-lt"/>
              </a:rPr>
              <a:t>t.nume_tara</a:t>
            </a:r>
            <a:r>
              <a:rPr lang="en-US" sz="1200">
                <a:ea typeface="+mn-lt"/>
                <a:cs typeface="+mn-lt"/>
              </a:rPr>
              <a:t> = 'Romania';</a:t>
            </a:r>
            <a:endParaRPr lang="en-US">
              <a:ea typeface="+mn-lt"/>
              <a:cs typeface="+mn-lt"/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endParaRPr 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646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EE6C4165-8C71-E7F0-F22B-51A906F5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12F5E1C7-E266-EF30-9EDB-F54CBF4C5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9941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Interogări</a:t>
            </a:r>
            <a:r>
              <a:rPr lang="en-US" sz="2700">
                <a:solidFill>
                  <a:schemeClr val="tx2"/>
                </a:solidFill>
              </a:rPr>
              <a:t> imbricate – JOINS - EXISTS</a:t>
            </a:r>
            <a:endParaRPr lang="en-US" sz="2700" kern="120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87BA6876-C1B6-62AF-66C3-4B5FE4465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168234"/>
            <a:ext cx="7375161" cy="202048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</a:rPr>
              <a:t>(Sub) </a:t>
            </a:r>
            <a:r>
              <a:rPr lang="en-US" sz="1200" err="1">
                <a:solidFill>
                  <a:schemeClr val="tx2"/>
                </a:solidFill>
              </a:rPr>
              <a:t>interogări</a:t>
            </a:r>
            <a:r>
              <a:rPr lang="en-US" sz="1200">
                <a:solidFill>
                  <a:schemeClr val="tx2"/>
                </a:solidFill>
              </a:rPr>
              <a:t> corelate: </a:t>
            </a:r>
            <a:r>
              <a:rPr lang="en-US" sz="1200" err="1">
                <a:solidFill>
                  <a:schemeClr val="tx2"/>
                </a:solidFill>
              </a:rPr>
              <a:t>executate</a:t>
            </a:r>
            <a:r>
              <a:rPr lang="en-US" sz="1200">
                <a:solidFill>
                  <a:schemeClr val="tx2"/>
                </a:solidFill>
              </a:rPr>
              <a:t> </a:t>
            </a:r>
            <a:r>
              <a:rPr lang="en-US" sz="1200" err="1">
                <a:solidFill>
                  <a:schemeClr val="tx2"/>
                </a:solidFill>
              </a:rPr>
              <a:t>pentru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fiecare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înregistrare</a:t>
            </a:r>
            <a:r>
              <a:rPr lang="en-US" sz="1200">
                <a:solidFill>
                  <a:schemeClr val="tx2"/>
                </a:solidFill>
              </a:rPr>
              <a:t> - O(N) </a:t>
            </a:r>
            <a:r>
              <a:rPr lang="en-US" sz="1200" err="1">
                <a:solidFill>
                  <a:schemeClr val="tx2"/>
                </a:solidFill>
              </a:rPr>
              <a:t>execuții</a:t>
            </a:r>
            <a:endParaRPr lang="en-US" sz="1200">
              <a:solidFill>
                <a:schemeClr val="tx2"/>
              </a:solidFill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Char char="•"/>
            </a:pPr>
            <a:r>
              <a:rPr lang="en-US" sz="1200">
                <a:solidFill>
                  <a:schemeClr val="tx2"/>
                </a:solidFill>
              </a:rPr>
              <a:t>(Sub) </a:t>
            </a:r>
            <a:r>
              <a:rPr lang="en-US" sz="1200" err="1">
                <a:solidFill>
                  <a:schemeClr val="tx2"/>
                </a:solidFill>
              </a:rPr>
              <a:t>interogări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necorelate</a:t>
            </a:r>
            <a:r>
              <a:rPr lang="en-US" sz="1200">
                <a:solidFill>
                  <a:schemeClr val="tx2"/>
                </a:solidFill>
              </a:rPr>
              <a:t>: </a:t>
            </a:r>
            <a:r>
              <a:rPr lang="en-US" sz="1200" err="1">
                <a:solidFill>
                  <a:schemeClr val="tx2"/>
                </a:solidFill>
              </a:rPr>
              <a:t>executate</a:t>
            </a:r>
            <a:r>
              <a:rPr lang="en-US" sz="1200">
                <a:solidFill>
                  <a:schemeClr val="tx2"/>
                </a:solidFill>
              </a:rPr>
              <a:t> o </a:t>
            </a:r>
            <a:r>
              <a:rPr lang="en-US" sz="1200" err="1">
                <a:solidFill>
                  <a:schemeClr val="tx2"/>
                </a:solidFill>
              </a:rPr>
              <a:t>singură</a:t>
            </a:r>
            <a:r>
              <a:rPr lang="en-US" sz="1200">
                <a:solidFill>
                  <a:schemeClr val="tx2"/>
                </a:solidFill>
              </a:rPr>
              <a:t> data – O(1)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Char char="•"/>
            </a:pPr>
            <a:r>
              <a:rPr lang="en-US" sz="1200">
                <a:solidFill>
                  <a:schemeClr val="tx2"/>
                </a:solidFill>
              </a:rPr>
              <a:t>JOIN: </a:t>
            </a:r>
            <a:r>
              <a:rPr lang="en-US" sz="1200" err="1">
                <a:solidFill>
                  <a:schemeClr val="tx2"/>
                </a:solidFill>
              </a:rPr>
              <a:t>bazate</a:t>
            </a:r>
            <a:r>
              <a:rPr lang="en-US" sz="1200">
                <a:solidFill>
                  <a:schemeClr val="tx2"/>
                </a:solidFill>
              </a:rPr>
              <a:t> pe </a:t>
            </a:r>
            <a:r>
              <a:rPr lang="en-US" sz="1200" err="1">
                <a:solidFill>
                  <a:schemeClr val="tx2"/>
                </a:solidFill>
              </a:rPr>
              <a:t>relații</a:t>
            </a:r>
            <a:r>
              <a:rPr lang="en-US" sz="1200">
                <a:solidFill>
                  <a:schemeClr val="tx2"/>
                </a:solidFill>
              </a:rPr>
              <a:t>/</a:t>
            </a:r>
            <a:r>
              <a:rPr lang="en-US" sz="1200" err="1">
                <a:solidFill>
                  <a:schemeClr val="tx2"/>
                </a:solidFill>
              </a:rPr>
              <a:t>seturi</a:t>
            </a:r>
            <a:r>
              <a:rPr lang="en-US" sz="1200">
                <a:solidFill>
                  <a:schemeClr val="tx2"/>
                </a:solidFill>
              </a:rPr>
              <a:t> - </a:t>
            </a:r>
            <a:r>
              <a:rPr lang="en-US" sz="1200" err="1">
                <a:solidFill>
                  <a:schemeClr val="tx2"/>
                </a:solidFill>
              </a:rPr>
              <a:t>optimizatorul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poate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reordona</a:t>
            </a:r>
            <a:r>
              <a:rPr lang="en-US" sz="1200">
                <a:solidFill>
                  <a:schemeClr val="tx2"/>
                </a:solidFill>
              </a:rPr>
              <a:t> liber </a:t>
            </a:r>
            <a:r>
              <a:rPr lang="en-US" sz="1200" err="1">
                <a:solidFill>
                  <a:schemeClr val="tx2"/>
                </a:solidFill>
              </a:rPr>
              <a:t>accesul</a:t>
            </a:r>
            <a:endParaRPr lang="en-US" sz="1200">
              <a:solidFill>
                <a:schemeClr val="tx2"/>
              </a:solidFill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Char char="•"/>
            </a:pPr>
            <a:r>
              <a:rPr lang="en-US" sz="1200">
                <a:solidFill>
                  <a:schemeClr val="tx2"/>
                </a:solidFill>
              </a:rPr>
              <a:t>EXISTS vs IN vs JOIN - </a:t>
            </a:r>
            <a:r>
              <a:rPr lang="en-US" sz="1200" err="1">
                <a:solidFill>
                  <a:schemeClr val="tx2"/>
                </a:solidFill>
              </a:rPr>
              <a:t>când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este</a:t>
            </a:r>
            <a:r>
              <a:rPr lang="en-US" sz="1200">
                <a:solidFill>
                  <a:schemeClr val="tx2"/>
                </a:solidFill>
              </a:rPr>
              <a:t> util </a:t>
            </a:r>
            <a:r>
              <a:rPr lang="en-US" sz="1200" err="1">
                <a:solidFill>
                  <a:schemeClr val="tx2"/>
                </a:solidFill>
              </a:rPr>
              <a:t>fiecare</a:t>
            </a:r>
            <a:r>
              <a:rPr lang="en-US" sz="1200">
                <a:solidFill>
                  <a:schemeClr val="tx2"/>
                </a:solidFill>
              </a:rPr>
              <a:t> operator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633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A5F3572-F420-5301-C8AC-5C7C1A5F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267D86F3-DA4D-1803-FBD5-B50A8632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3669AA7-009F-0039-26CE-0DCAF8EC5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4E8E451-3A9B-5092-A299-30F96B6287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9941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Interogări</a:t>
            </a:r>
            <a:r>
              <a:rPr lang="en-US" sz="2700">
                <a:solidFill>
                  <a:schemeClr val="tx2"/>
                </a:solidFill>
              </a:rPr>
              <a:t> imbricate - slow</a:t>
            </a:r>
            <a:endParaRPr lang="en-US" sz="2700" kern="120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30F5AED-498B-D1CE-2B28-AB088A2B0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0A8EECD-B1A5-7621-BF53-E4C10975B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A8A95E54-1E26-40DB-E3EA-587C1785F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A4D5A3B2-67CA-588E-82F6-D630EB638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57DFEB0-89D9-DE6A-9D6A-AD023E1EF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DFCCB93-D708-2774-6FF0-62B8DDCCE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168234"/>
            <a:ext cx="7375161" cy="202048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SELECT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o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id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total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FROM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Orders o 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WHERE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total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&gt;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endParaRPr lang="en-US" sz="120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 SELECT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51C2"/>
                </a:solidFill>
                <a:ea typeface="+mn-lt"/>
                <a:cs typeface="+mn-lt"/>
              </a:rPr>
              <a:t>AVG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total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</a:t>
            </a:r>
            <a:endParaRPr lang="en-US" sz="120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 FROM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Orders o2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 WHERE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o2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customer_id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=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customer_id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);</a:t>
            </a:r>
            <a:endParaRPr lang="en-US" sz="1200">
              <a:solidFill>
                <a:schemeClr val="tx2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8DA99B5-F336-8C75-2E08-A7603A51F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52BAAF1-5A1B-DB7E-8B45-BDBB7313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E928D1E-0364-512A-CD12-46AB17FAD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1674EC3-1682-3529-1D79-8FBF7E099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D0772CA-751F-CBD2-5619-B72D446E2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11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6E2E505-232D-7BF3-4B2F-7D56B6B3E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2341FB85-8DDD-7DA0-AF0D-0F6815759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779389B-677F-F67E-E505-5A7F8CABD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DE0C9951-98AC-1F0A-F5C0-1D5A9C5C14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9941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Interogări</a:t>
            </a:r>
            <a:r>
              <a:rPr lang="en-US" sz="2700">
                <a:solidFill>
                  <a:schemeClr val="tx2"/>
                </a:solidFill>
              </a:rPr>
              <a:t> imbricate – </a:t>
            </a:r>
            <a:r>
              <a:rPr lang="en-US" sz="2700" err="1">
                <a:solidFill>
                  <a:schemeClr val="tx2"/>
                </a:solidFill>
              </a:rPr>
              <a:t>soluția</a:t>
            </a:r>
            <a:r>
              <a:rPr lang="en-US" sz="2700">
                <a:solidFill>
                  <a:schemeClr val="tx2"/>
                </a:solidFill>
              </a:rPr>
              <a:t> 1: JOIN</a:t>
            </a:r>
            <a:endParaRPr lang="en-US" sz="2700" kern="120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73DF7827-0CE6-0A92-48B7-19B7FFE5B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F30B9D3-1926-49CE-7513-86CF2F2EE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2849EB84-F11D-FD3F-B2A7-F9CD98E51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54BA5C9E-0839-C637-80A8-4FEFE897E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7519AD8-80C6-A3FC-359A-05E31A900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3A747DD9-4B5C-1878-E454-A237131DFA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168234"/>
            <a:ext cx="7375161" cy="202048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SELECT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o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id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total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customer_id</a:t>
            </a:r>
            <a:endParaRPr lang="en-US" err="1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FROM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Orders o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JOIN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 SELECT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customer_id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51C2"/>
                </a:solidFill>
                <a:ea typeface="+mn-lt"/>
                <a:cs typeface="+mn-lt"/>
              </a:rPr>
              <a:t>AVG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total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AS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avg_total</a:t>
            </a:r>
            <a:endParaRPr lang="en-US" err="1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 FROM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Orders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 GROUP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BY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customer_id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AS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customer_avg</a:t>
            </a:r>
            <a:endParaRPr lang="en-US" sz="120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 ON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customer_id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=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customer_avg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customer_id</a:t>
            </a:r>
            <a:endParaRPr lang="en-US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WHERE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total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&gt;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customer_avg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avg_total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;</a:t>
            </a:r>
            <a:endParaRPr lang="en-US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94EA510-6ADD-126A-8B3F-AE543BFEA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B0BD8256-CEA6-756E-F1B5-B2055B920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A2358AB-4E41-F3DD-6D3A-32642DC48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E3527BE-B59C-85A1-5472-147A9736C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5293C69-C88F-2175-0DCF-711EA57A5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895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57FC53E2-7272-A4C2-2224-C31D24E2B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DFA67191-ED61-BB63-E49C-E1DC9C6E5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33A7815-6DB0-9FEF-62AB-52BD6302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10F8B2A4-0A46-10EB-F9EC-5477B15D6B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9941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Interogări</a:t>
            </a:r>
            <a:r>
              <a:rPr lang="en-US" sz="2700">
                <a:solidFill>
                  <a:schemeClr val="tx2"/>
                </a:solidFill>
              </a:rPr>
              <a:t> imbricate – </a:t>
            </a:r>
            <a:r>
              <a:rPr lang="en-US" sz="2700" err="1">
                <a:solidFill>
                  <a:schemeClr val="tx2"/>
                </a:solidFill>
              </a:rPr>
              <a:t>soluția</a:t>
            </a:r>
            <a:r>
              <a:rPr lang="en-US" sz="2700">
                <a:solidFill>
                  <a:schemeClr val="tx2"/>
                </a:solidFill>
              </a:rPr>
              <a:t> 2: WITH (CTE)</a:t>
            </a:r>
            <a:endParaRPr lang="en-US" sz="2700" kern="120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B922CBF-A08E-40C5-C395-2776EC057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3B971936-FAD7-EC24-FD91-5B03E92A5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C70D594-891D-E849-E656-3B2BC5455A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72AD9B70-AF01-06ED-4C14-F7B511027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57DC49-93DB-E914-A1C6-2F32E5843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C4C12F3-F980-116E-C54C-94F331981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168234"/>
            <a:ext cx="7375161" cy="2020482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600">
                <a:solidFill>
                  <a:srgbClr val="8100C2"/>
                </a:solidFill>
              </a:rPr>
              <a:t>WITH</a:t>
            </a:r>
            <a:r>
              <a:rPr lang="en-US" sz="1600"/>
              <a:t> </a:t>
            </a:r>
            <a:r>
              <a:rPr lang="en-US" sz="1600" err="1"/>
              <a:t>customer_avg</a:t>
            </a:r>
            <a:r>
              <a:rPr lang="en-US" sz="1600"/>
              <a:t> </a:t>
            </a:r>
            <a:r>
              <a:rPr lang="en-US" sz="1600">
                <a:solidFill>
                  <a:srgbClr val="8100C2"/>
                </a:solidFill>
              </a:rPr>
              <a:t>AS</a:t>
            </a:r>
            <a:r>
              <a:rPr lang="en-US" sz="1600"/>
              <a:t> </a:t>
            </a:r>
            <a:r>
              <a:rPr lang="en-US" sz="1600">
                <a:solidFill>
                  <a:srgbClr val="2B303B"/>
                </a:solidFill>
              </a:rPr>
              <a:t>(</a:t>
            </a:r>
            <a:endParaRPr lang="en-US" sz="1600">
              <a:solidFill>
                <a:srgbClr val="000000"/>
              </a:solidFill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600">
                <a:solidFill>
                  <a:srgbClr val="8100C2"/>
                </a:solidFill>
              </a:rPr>
              <a:t>SELECT</a:t>
            </a:r>
            <a:r>
              <a:rPr lang="en-US" sz="1600"/>
              <a:t> </a:t>
            </a:r>
            <a:r>
              <a:rPr lang="en-US" sz="1600" err="1"/>
              <a:t>customer_id</a:t>
            </a:r>
            <a:r>
              <a:rPr lang="en-US" sz="1600">
                <a:solidFill>
                  <a:srgbClr val="2B303B"/>
                </a:solidFill>
              </a:rPr>
              <a:t>,</a:t>
            </a:r>
            <a:r>
              <a:rPr lang="en-US" sz="1600"/>
              <a:t> </a:t>
            </a:r>
            <a:r>
              <a:rPr lang="en-US" sz="1600">
                <a:solidFill>
                  <a:srgbClr val="0051C2"/>
                </a:solidFill>
              </a:rPr>
              <a:t>AVG</a:t>
            </a:r>
            <a:r>
              <a:rPr lang="en-US" sz="1600">
                <a:solidFill>
                  <a:srgbClr val="2B303B"/>
                </a:solidFill>
              </a:rPr>
              <a:t>(</a:t>
            </a:r>
            <a:r>
              <a:rPr lang="en-US" sz="1600"/>
              <a:t>total</a:t>
            </a:r>
            <a:r>
              <a:rPr lang="en-US" sz="1600">
                <a:solidFill>
                  <a:srgbClr val="2B303B"/>
                </a:solidFill>
              </a:rPr>
              <a:t>)</a:t>
            </a:r>
            <a:r>
              <a:rPr lang="en-US" sz="1600"/>
              <a:t> </a:t>
            </a:r>
            <a:r>
              <a:rPr lang="en-US" sz="1600">
                <a:solidFill>
                  <a:srgbClr val="8100C2"/>
                </a:solidFill>
              </a:rPr>
              <a:t>AS</a:t>
            </a:r>
            <a:r>
              <a:rPr lang="en-US" sz="1600"/>
              <a:t> </a:t>
            </a:r>
            <a:r>
              <a:rPr lang="en-US" sz="1600" err="1"/>
              <a:t>avg_total</a:t>
            </a:r>
            <a:endParaRPr lang="en-US" sz="1600"/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600">
                <a:solidFill>
                  <a:srgbClr val="8100C2"/>
                </a:solidFill>
              </a:rPr>
              <a:t>FROM</a:t>
            </a:r>
            <a:r>
              <a:rPr lang="en-US" sz="1600"/>
              <a:t> Orders </a:t>
            </a:r>
            <a:r>
              <a:rPr lang="en-US" sz="1600">
                <a:solidFill>
                  <a:srgbClr val="8100C2"/>
                </a:solidFill>
              </a:rPr>
              <a:t>GROUP</a:t>
            </a:r>
            <a:r>
              <a:rPr lang="en-US" sz="1600"/>
              <a:t> </a:t>
            </a:r>
            <a:r>
              <a:rPr lang="en-US" sz="1600">
                <a:solidFill>
                  <a:srgbClr val="8100C2"/>
                </a:solidFill>
              </a:rPr>
              <a:t>BY</a:t>
            </a:r>
            <a:r>
              <a:rPr lang="en-US" sz="1600"/>
              <a:t> </a:t>
            </a:r>
            <a:r>
              <a:rPr lang="en-US" sz="1600" err="1"/>
              <a:t>customer_id</a:t>
            </a:r>
            <a:r>
              <a:rPr lang="en-US" sz="1600"/>
              <a:t>) </a:t>
            </a:r>
            <a:endParaRPr lang="en-US" sz="1600">
              <a:solidFill>
                <a:srgbClr val="000000"/>
              </a:solidFill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600">
                <a:solidFill>
                  <a:srgbClr val="8100C2"/>
                </a:solidFill>
              </a:rPr>
              <a:t>SELECT</a:t>
            </a:r>
            <a:r>
              <a:rPr lang="en-US" sz="1600"/>
              <a:t> o</a:t>
            </a:r>
            <a:r>
              <a:rPr lang="en-US" sz="1600">
                <a:solidFill>
                  <a:srgbClr val="2B303B"/>
                </a:solidFill>
              </a:rPr>
              <a:t>.</a:t>
            </a:r>
            <a:r>
              <a:rPr lang="en-US" sz="1600"/>
              <a:t>id</a:t>
            </a:r>
            <a:r>
              <a:rPr lang="en-US" sz="1600">
                <a:solidFill>
                  <a:srgbClr val="2B303B"/>
                </a:solidFill>
              </a:rPr>
              <a:t>,</a:t>
            </a:r>
            <a:r>
              <a:rPr lang="en-US" sz="1600"/>
              <a:t> </a:t>
            </a:r>
            <a:r>
              <a:rPr lang="en-US" sz="1600" err="1"/>
              <a:t>o</a:t>
            </a:r>
            <a:r>
              <a:rPr lang="en-US" sz="1600" err="1">
                <a:solidFill>
                  <a:srgbClr val="2B303B"/>
                </a:solidFill>
              </a:rPr>
              <a:t>.</a:t>
            </a:r>
            <a:r>
              <a:rPr lang="en-US" sz="1600" err="1"/>
              <a:t>total</a:t>
            </a:r>
            <a:r>
              <a:rPr lang="en-US" sz="1600">
                <a:solidFill>
                  <a:srgbClr val="2B303B"/>
                </a:solidFill>
              </a:rPr>
              <a:t>,</a:t>
            </a:r>
            <a:r>
              <a:rPr lang="en-US" sz="1600"/>
              <a:t> </a:t>
            </a:r>
            <a:r>
              <a:rPr lang="en-US" sz="1600" err="1"/>
              <a:t>o</a:t>
            </a:r>
            <a:r>
              <a:rPr lang="en-US" sz="1600" err="1">
                <a:solidFill>
                  <a:srgbClr val="2B303B"/>
                </a:solidFill>
              </a:rPr>
              <a:t>.</a:t>
            </a:r>
            <a:r>
              <a:rPr lang="en-US" sz="1600" err="1"/>
              <a:t>customer_id</a:t>
            </a:r>
            <a:endParaRPr lang="en-US" sz="1600"/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600">
                <a:solidFill>
                  <a:srgbClr val="8100C2"/>
                </a:solidFill>
              </a:rPr>
              <a:t>FROM</a:t>
            </a:r>
            <a:r>
              <a:rPr lang="en-US" sz="1600"/>
              <a:t> Orders o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600">
                <a:solidFill>
                  <a:srgbClr val="8100C2"/>
                </a:solidFill>
              </a:rPr>
              <a:t> JOIN</a:t>
            </a:r>
            <a:r>
              <a:rPr lang="en-US" sz="1600"/>
              <a:t> </a:t>
            </a:r>
            <a:r>
              <a:rPr lang="en-US" sz="1600" err="1"/>
              <a:t>customer_avg</a:t>
            </a:r>
            <a:r>
              <a:rPr lang="en-US" sz="1600"/>
              <a:t> ca </a:t>
            </a:r>
            <a:r>
              <a:rPr lang="en-US" sz="1600">
                <a:solidFill>
                  <a:srgbClr val="8100C2"/>
                </a:solidFill>
              </a:rPr>
              <a:t>ON</a:t>
            </a:r>
            <a:r>
              <a:rPr lang="en-US" sz="1600"/>
              <a:t> </a:t>
            </a:r>
            <a:r>
              <a:rPr lang="en-US" sz="1600" err="1"/>
              <a:t>o</a:t>
            </a:r>
            <a:r>
              <a:rPr lang="en-US" sz="1600" err="1">
                <a:solidFill>
                  <a:srgbClr val="2B303B"/>
                </a:solidFill>
              </a:rPr>
              <a:t>.</a:t>
            </a:r>
            <a:r>
              <a:rPr lang="en-US" sz="1600" err="1"/>
              <a:t>customer_id</a:t>
            </a:r>
            <a:r>
              <a:rPr lang="en-US" sz="1600"/>
              <a:t> </a:t>
            </a:r>
            <a:r>
              <a:rPr lang="en-US" sz="1600">
                <a:solidFill>
                  <a:srgbClr val="14181F"/>
                </a:solidFill>
              </a:rPr>
              <a:t>=</a:t>
            </a:r>
            <a:r>
              <a:rPr lang="en-US" sz="1600"/>
              <a:t> </a:t>
            </a:r>
            <a:r>
              <a:rPr lang="en-US" sz="1600" err="1"/>
              <a:t>ca</a:t>
            </a:r>
            <a:r>
              <a:rPr lang="en-US" sz="1600" err="1">
                <a:solidFill>
                  <a:srgbClr val="2B303B"/>
                </a:solidFill>
              </a:rPr>
              <a:t>.</a:t>
            </a:r>
            <a:r>
              <a:rPr lang="en-US" sz="1600" err="1"/>
              <a:t>customer_id</a:t>
            </a:r>
            <a:r>
              <a:rPr lang="en-US" sz="1600"/>
              <a:t> </a:t>
            </a:r>
            <a:r>
              <a:rPr lang="en-US" sz="1600">
                <a:solidFill>
                  <a:srgbClr val="8100C2"/>
                </a:solidFill>
              </a:rPr>
              <a:t>WHERE</a:t>
            </a:r>
            <a:r>
              <a:rPr lang="en-US" sz="1600"/>
              <a:t> </a:t>
            </a:r>
            <a:r>
              <a:rPr lang="en-US" sz="1600" err="1"/>
              <a:t>o</a:t>
            </a:r>
            <a:r>
              <a:rPr lang="en-US" sz="1600" err="1">
                <a:solidFill>
                  <a:srgbClr val="2B303B"/>
                </a:solidFill>
              </a:rPr>
              <a:t>.</a:t>
            </a:r>
            <a:r>
              <a:rPr lang="en-US" sz="1600" err="1"/>
              <a:t>total</a:t>
            </a:r>
            <a:r>
              <a:rPr lang="en-US" sz="1600"/>
              <a:t> </a:t>
            </a:r>
            <a:r>
              <a:rPr lang="en-US" sz="1600">
                <a:solidFill>
                  <a:srgbClr val="14181F"/>
                </a:solidFill>
              </a:rPr>
              <a:t>&gt;</a:t>
            </a:r>
            <a:r>
              <a:rPr lang="en-US" sz="1600"/>
              <a:t> </a:t>
            </a:r>
            <a:r>
              <a:rPr lang="en-US" sz="1600" err="1"/>
              <a:t>ca</a:t>
            </a:r>
            <a:r>
              <a:rPr lang="en-US" sz="1600" err="1">
                <a:solidFill>
                  <a:srgbClr val="2B303B"/>
                </a:solidFill>
              </a:rPr>
              <a:t>.</a:t>
            </a:r>
            <a:r>
              <a:rPr lang="en-US" sz="1600" err="1"/>
              <a:t>avg_total</a:t>
            </a:r>
            <a:r>
              <a:rPr lang="en-US" sz="1600">
                <a:solidFill>
                  <a:srgbClr val="2B303B"/>
                </a:solidFill>
              </a:rPr>
              <a:t>;</a:t>
            </a:r>
            <a:endParaRPr lang="en-US" sz="2000">
              <a:ea typeface="+mn-lt"/>
              <a:cs typeface="+mn-lt"/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3C73813F-1587-FF6F-430D-5D8239B5E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87CB641-B8FB-B0A8-4BBD-45D28F77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EDFF14F-297B-1D58-4EFA-4EFC584FE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4B654FEC-8815-B839-996B-DEC83D104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7E46918-8E36-A695-9674-D235E2AE1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3681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8D5BA42-D7D3-CAB3-C293-274E40891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B612533C-D035-DD53-5BC5-9B80FF8BD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37858E1-153D-E1A1-4045-BFA312937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EFC1D3D-BD1E-275E-79EC-DEB4315AEB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9941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Erori</a:t>
            </a:r>
            <a:r>
              <a:rPr lang="en-US" sz="2700">
                <a:solidFill>
                  <a:schemeClr val="tx2"/>
                </a:solidFill>
              </a:rPr>
              <a:t> de </a:t>
            </a:r>
            <a:r>
              <a:rPr lang="en-US" sz="2700" err="1">
                <a:solidFill>
                  <a:schemeClr val="tx2"/>
                </a:solidFill>
              </a:rPr>
              <a:t>evitat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3FAC79DC-22F6-18A6-36FD-2034BFDEA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469C40D-4292-5673-3A6F-77C0DC500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C8A57D68-ACED-A714-60CF-569F64AE6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7BDCF70D-BBD3-992B-A855-43DED28AF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82E3146-498F-8C3D-6E6E-3A7D0F135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5B402B7-9773-E13F-0A31-687A4EB8B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168234"/>
            <a:ext cx="7375161" cy="202048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</a:rPr>
              <a:t>SELECT * - </a:t>
            </a:r>
            <a:r>
              <a:rPr lang="en-US" sz="1200" err="1">
                <a:solidFill>
                  <a:schemeClr val="tx2"/>
                </a:solidFill>
              </a:rPr>
              <a:t>încarcă</a:t>
            </a:r>
            <a:r>
              <a:rPr lang="en-US" sz="1200">
                <a:solidFill>
                  <a:schemeClr val="tx2"/>
                </a:solidFill>
              </a:rPr>
              <a:t> date </a:t>
            </a:r>
            <a:r>
              <a:rPr lang="en-US" sz="1200" err="1">
                <a:solidFill>
                  <a:schemeClr val="tx2"/>
                </a:solidFill>
              </a:rPr>
              <a:t>neutilizate</a:t>
            </a:r>
            <a:r>
              <a:rPr lang="en-US" sz="1200">
                <a:solidFill>
                  <a:schemeClr val="tx2"/>
                </a:solidFill>
              </a:rPr>
              <a:t>, </a:t>
            </a:r>
            <a:r>
              <a:rPr lang="en-US" sz="1200" err="1">
                <a:solidFill>
                  <a:schemeClr val="tx2"/>
                </a:solidFill>
              </a:rPr>
              <a:t>irosire</a:t>
            </a:r>
            <a:r>
              <a:rPr lang="en-US" sz="1200">
                <a:solidFill>
                  <a:schemeClr val="tx2"/>
                </a:solidFill>
              </a:rPr>
              <a:t> I/O</a:t>
            </a:r>
            <a:endParaRPr lang="en-US">
              <a:solidFill>
                <a:schemeClr val="tx2"/>
              </a:solidFill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chemeClr val="tx2"/>
                </a:solidFill>
              </a:rPr>
              <a:t>Condiții</a:t>
            </a:r>
            <a:r>
              <a:rPr lang="en-US" sz="1200">
                <a:solidFill>
                  <a:schemeClr val="tx2"/>
                </a:solidFill>
              </a:rPr>
              <a:t> OR -&gt; UNION ALL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</a:rPr>
              <a:t>DISTINCT </a:t>
            </a:r>
            <a:r>
              <a:rPr lang="en-US" sz="1200" err="1">
                <a:solidFill>
                  <a:schemeClr val="tx2"/>
                </a:solidFill>
              </a:rPr>
              <a:t>pentru</a:t>
            </a:r>
            <a:r>
              <a:rPr lang="en-US" sz="1200">
                <a:solidFill>
                  <a:schemeClr val="tx2"/>
                </a:solidFill>
              </a:rPr>
              <a:t> a </a:t>
            </a:r>
            <a:r>
              <a:rPr lang="en-US" sz="1200" err="1">
                <a:solidFill>
                  <a:schemeClr val="tx2"/>
                </a:solidFill>
              </a:rPr>
              <a:t>corecta</a:t>
            </a:r>
            <a:r>
              <a:rPr lang="en-US" sz="1200" dirty="0">
                <a:solidFill>
                  <a:schemeClr val="tx2"/>
                </a:solidFill>
              </a:rPr>
              <a:t> </a:t>
            </a:r>
            <a:r>
              <a:rPr lang="en-US" sz="1200" err="1">
                <a:solidFill>
                  <a:schemeClr val="tx2"/>
                </a:solidFill>
              </a:rPr>
              <a:t>operațiuni</a:t>
            </a:r>
            <a:r>
              <a:rPr lang="en-US" sz="1200">
                <a:solidFill>
                  <a:schemeClr val="tx2"/>
                </a:solidFill>
              </a:rPr>
              <a:t> JOIN </a:t>
            </a:r>
            <a:r>
              <a:rPr lang="en-US" sz="1200" err="1">
                <a:solidFill>
                  <a:schemeClr val="tx2"/>
                </a:solidFill>
              </a:rPr>
              <a:t>greșite</a:t>
            </a:r>
            <a:endParaRPr lang="en-US" sz="1200">
              <a:solidFill>
                <a:schemeClr val="tx2"/>
              </a:solidFill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chemeClr val="tx2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53F324B-DA78-CC5F-36E4-35DC57ECA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9B06E1D-ECF9-20E0-6311-726BBFD26E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7BE83C0D-C077-986D-6BEB-E54A03D38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0F90F60-026D-D0A5-EE9E-E3B0BB08B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093173DB-4187-817A-5C2E-DF834E00B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8727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794BADE-6D38-C055-9A72-6E2B3CCD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3507CC03-B1EA-A876-4C22-9E98B8D5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5F15867-0CCE-1AFC-5B98-6F842BFFC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8649514F-C45E-4311-E21C-2C56F7F2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9941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>
                <a:solidFill>
                  <a:schemeClr val="tx2"/>
                </a:solidFill>
              </a:rPr>
              <a:t>OR vs UNION ALL </a:t>
            </a:r>
            <a:endParaRPr lang="en-US" sz="2700" kern="120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3FF0858A-FA86-0137-B302-95B01456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4ADBAAC-E9A3-9409-8182-2E08F2DF31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5E2030F-2AC8-C492-D9F8-597122A5D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9358B9B-701A-D6D3-1FCE-AC055FB13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5F176BC-2F98-AE84-E1FB-F731424EE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3BD79FC1-1850-91E4-1955-4C41607BA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168234"/>
            <a:ext cx="7375161" cy="202048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fontScale="92500" lnSpcReduction="10000"/>
          </a:bodyPr>
          <a:lstStyle/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SELECT c.name,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c.country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,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o.total</a:t>
            </a:r>
            <a:endParaRPr lang="en-US" err="1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FROM customers c JOIN orders o ON c.id=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o.customer_id</a:t>
            </a:r>
            <a:endParaRPr lang="en-US" err="1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WHERE 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c.country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='Japan' </a:t>
            </a:r>
            <a:r>
              <a:rPr lang="en-US" sz="1200" b="1">
                <a:solidFill>
                  <a:schemeClr val="tx2"/>
                </a:solidFill>
                <a:ea typeface="+mn-lt"/>
                <a:cs typeface="+mn-lt"/>
              </a:rPr>
              <a:t>OR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o.total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&gt; 500;</a:t>
            </a:r>
          </a:p>
          <a:p>
            <a:pPr>
              <a:buNone/>
            </a:pPr>
            <a:endParaRPr lang="en-US" sz="1200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Hash Join </a:t>
            </a:r>
            <a:endParaRPr lang="en-US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Hash Cond: (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o.customer_id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= c.id)                                                                                  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 </a:t>
            </a:r>
            <a:r>
              <a:rPr lang="en-US" sz="1200" b="1">
                <a:solidFill>
                  <a:schemeClr val="tx2"/>
                </a:solidFill>
                <a:ea typeface="+mn-lt"/>
                <a:cs typeface="+mn-lt"/>
              </a:rPr>
              <a:t>Join Filter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: (((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c.country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)::text = 'Japan'::text) OR (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o.total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&gt; '500'::numeric))                                   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 Rows Removed by Join Filter: 169924                                                                                  </a:t>
            </a: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 -&gt;  </a:t>
            </a:r>
            <a:r>
              <a:rPr lang="en-US" sz="1200" b="1">
                <a:solidFill>
                  <a:schemeClr val="tx2"/>
                </a:solidFill>
                <a:ea typeface="+mn-lt"/>
                <a:cs typeface="+mn-lt"/>
              </a:rPr>
              <a:t>Seq Scan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on orders o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 -&gt;  Hash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 -&gt;  </a:t>
            </a:r>
            <a:r>
              <a:rPr lang="en-US" sz="1200" b="1">
                <a:solidFill>
                  <a:schemeClr val="tx2"/>
                </a:solidFill>
                <a:ea typeface="+mn-lt"/>
                <a:cs typeface="+mn-lt"/>
              </a:rPr>
              <a:t>Seq Scan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on customers c </a:t>
            </a:r>
            <a:endParaRPr lang="en-US" sz="1200">
              <a:solidFill>
                <a:schemeClr val="tx2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6A3A9D6-51CF-C669-FB86-45BE08A37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01C753F-0D78-6E36-1CBA-140E313D3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CE90C6A-ED4A-FA0C-85C2-336A83BE3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7F57B94-8F11-5B86-FAEB-B573992A7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1B1759D-4003-99C2-C374-74D3D7D8EA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72746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E3B6F7EB-98AB-BBC3-5D1C-F9D965B8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2D0E744A-4849-5709-C7F2-D564A262B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3C7B466-3F3C-A092-E49E-975F449B8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70134C86-C347-CB2E-E947-871E90D51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61317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>
                <a:solidFill>
                  <a:schemeClr val="tx2"/>
                </a:solidFill>
              </a:rPr>
              <a:t>OR vs UNION ALL </a:t>
            </a:r>
            <a:endParaRPr lang="en-US" sz="2700" kern="120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8294D6F-DFA3-E666-9E0D-24CFF3EF9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4335290-A0F6-18F9-44AB-33438E51B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3F8337E8-AD6B-9C11-100D-6692101CC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70E232F-20FB-87DD-953A-D36787F68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D02D0F8-2CA2-F559-7DE1-A4052767F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65DD947-8882-3231-9136-6469F7CA2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1787235"/>
            <a:ext cx="7375161" cy="2394154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SELECTc.name,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c.country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,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o.total</a:t>
            </a:r>
            <a:endParaRPr lang="en-US" err="1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FROM customers c join orders o ON c.id=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o.customer_id</a:t>
            </a:r>
            <a:endParaRPr lang="en-US" err="1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WHERE 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c.country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='Japan'</a:t>
            </a:r>
            <a:endParaRPr lang="en-US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 b="1">
                <a:solidFill>
                  <a:schemeClr val="tx2"/>
                </a:solidFill>
              </a:rPr>
              <a:t>UNION ALL</a:t>
            </a: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SELECT c.name,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c.country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,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o.total</a:t>
            </a:r>
            <a:endParaRPr lang="en-US" err="1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FROM customers c join orders o ON c.id=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o.customer_id</a:t>
            </a:r>
            <a:endParaRPr lang="en-US" err="1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WHERE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c.country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&lt;&gt;'Japan' AND 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o.total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&gt; 500;</a:t>
            </a:r>
            <a:endParaRPr lang="en-US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57DE49A-D3EA-2737-65DA-2B4786DCB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040DF02-23B4-4C01-57DC-7CB47F974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49EB635A-49EA-1DDF-D2E0-E6A4205E1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2DBE0D2-5C9F-754F-9586-7D68EF5E8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6A5294D-D325-3436-EA9A-CE45F0801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26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174A956-468D-5F4C-A8EE-BE3176CD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4EECDA22-408E-A164-5AB8-5BD891CB6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EE51732-83A4-A1A6-75FD-7877149DE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ECD1EAEF-FEBC-F405-8754-491B651FC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61317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>
                <a:solidFill>
                  <a:schemeClr val="tx2"/>
                </a:solidFill>
              </a:rPr>
              <a:t>OR vs UNION ALL - Plan</a:t>
            </a:r>
            <a:endParaRPr lang="en-US" sz="2700" kern="120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3105439-6C21-E8F0-6CE0-1CD476C40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038D718B-B60A-0B10-0EA2-6EF98EBFF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163920C-3F3E-6104-C31F-0A7EEC426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1257A4D-33D6-2D9D-FE04-A41960CB5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75C7714-42E1-C815-89A9-A8642B306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D756CE7E-C31A-A9B8-A7C9-C7D88E8D5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1787235"/>
            <a:ext cx="7375161" cy="254069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fontScale="85000" lnSpcReduction="20000"/>
          </a:bodyPr>
          <a:lstStyle/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Append  </a:t>
            </a:r>
            <a:endParaRPr lang="en-US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 -&gt; </a:t>
            </a:r>
            <a:r>
              <a:rPr lang="en-US" sz="1200" b="1">
                <a:solidFill>
                  <a:schemeClr val="tx2"/>
                </a:solidFill>
                <a:ea typeface="+mn-lt"/>
                <a:cs typeface="+mn-lt"/>
              </a:rPr>
              <a:t> Hash Join  </a:t>
            </a:r>
            <a:endParaRPr lang="en-US" b="1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 Hash Cond: (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o.customer_id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= c.id)                                                                                  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 -&gt;  Seq Scan on orders o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 -&gt;  Hash 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 -&gt;  Seq Scan on customers c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       </a:t>
            </a:r>
            <a:r>
              <a:rPr lang="en-US" sz="1200" b="1">
                <a:solidFill>
                  <a:schemeClr val="tx2"/>
                </a:solidFill>
                <a:ea typeface="+mn-lt"/>
                <a:cs typeface="+mn-lt"/>
              </a:rPr>
              <a:t>Filter: ((country)::text = 'Japan'::text)           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                                      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       Rows Removed by Filter: 859                                                                              </a:t>
            </a: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 -&gt;  </a:t>
            </a:r>
            <a:r>
              <a:rPr lang="en-US" sz="1200" b="1">
                <a:solidFill>
                  <a:schemeClr val="tx2"/>
                </a:solidFill>
                <a:ea typeface="+mn-lt"/>
                <a:cs typeface="+mn-lt"/>
              </a:rPr>
              <a:t>Hash Join  </a:t>
            </a:r>
            <a:endParaRPr lang="en-US" b="1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 Hash Cond: (o_1.customer_id = c_1.id)                                                                                </a:t>
            </a: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 -&gt;  Seq Scan on orders o_1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</a:t>
            </a:r>
            <a:r>
              <a:rPr lang="en-US" sz="1200" b="1">
                <a:solidFill>
                  <a:schemeClr val="tx2"/>
                </a:solidFill>
                <a:ea typeface="+mn-lt"/>
                <a:cs typeface="+mn-lt"/>
              </a:rPr>
              <a:t>  Filter: (total &gt; '500'::numeric)     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                                                           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 Rows Removed by Filter: 198072                                                                                 </a:t>
            </a: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 -&gt;  Hash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 -&gt;  Seq Scan on customers c_1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       </a:t>
            </a:r>
            <a:r>
              <a:rPr lang="en-US" sz="1200" b="1">
                <a:solidFill>
                  <a:schemeClr val="tx2"/>
                </a:solidFill>
                <a:ea typeface="+mn-lt"/>
                <a:cs typeface="+mn-lt"/>
              </a:rPr>
              <a:t>Filter: ((country)::text &lt;&gt; 'Japan'::text)        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                                          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               Rows Removed by Filter: 141   </a:t>
            </a:r>
            <a:endParaRPr lang="en-US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291870E-4ABB-BA57-6500-89495795A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BF568B09-7A9B-663B-64CC-AB64D44AD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7EDF36C2-B186-4430-33A6-EBB04B8A74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FD837F4A-76B6-8F7E-DA62-FD787838C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6B766CE-37EF-6AF5-AC12-A3959C7B8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0897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F5911FA-143D-D42B-F9B4-2795AD02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3" name="Rectangle 20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4" name="Arc 20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325A52A-2B05-721F-D875-FB874FC69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1221" y="359619"/>
            <a:ext cx="4094129" cy="99417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Planuri de execuție</a:t>
            </a:r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A diagram of a blockchain&#10;&#10;AI-generated content may be incorrect.">
            <a:extLst>
              <a:ext uri="{FF2B5EF4-FFF2-40B4-BE49-F238E27FC236}">
                <a16:creationId xmlns:a16="http://schemas.microsoft.com/office/drawing/2014/main" id="{F00A55A5-6238-9CF0-1929-D4DECE81D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424" y="1211769"/>
            <a:ext cx="5817747" cy="329603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74442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608FF568-BCED-B080-32B3-75923644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E2B8CCA9-075F-C881-4D81-A619D018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5EF093C-05FA-A377-CBB4-9100B66BD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9A6D58BE-8C71-308A-FD6B-4C7518E3A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9941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Erori</a:t>
            </a:r>
            <a:r>
              <a:rPr lang="en-US" sz="2700">
                <a:solidFill>
                  <a:schemeClr val="tx2"/>
                </a:solidFill>
              </a:rPr>
              <a:t> </a:t>
            </a:r>
            <a:r>
              <a:rPr lang="en-US" sz="2700" err="1">
                <a:solidFill>
                  <a:schemeClr val="tx2"/>
                </a:solidFill>
              </a:rPr>
              <a:t>folosind</a:t>
            </a:r>
            <a:r>
              <a:rPr lang="en-US" sz="2700">
                <a:solidFill>
                  <a:schemeClr val="tx2"/>
                </a:solidFill>
              </a:rPr>
              <a:t> JOIN </a:t>
            </a:r>
            <a:endParaRPr lang="en-US" sz="2700" kern="120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D1C1060-73B5-ACC9-E286-209A5122C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74C9BFB-F5EB-B420-BFE2-9B156275D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DA8965C-E70D-6DED-EC85-96BC7F5AD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AB0B3938-8A38-4A7F-67D7-7FF4511A7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F47C426-F48C-B5AC-CE56-0809188366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2DCE24E4-998E-6EA8-025A-F0DEF47B9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168234"/>
            <a:ext cx="7375161" cy="202048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ea typeface="+mn-lt"/>
                <a:cs typeface="+mn-lt"/>
              </a:rPr>
              <a:t>"Get the names of all Japanese customers who have placed at least one order."</a:t>
            </a:r>
            <a:br>
              <a:rPr lang="en-US" sz="1200">
                <a:solidFill>
                  <a:srgbClr val="8100C2"/>
                </a:solidFill>
                <a:ea typeface="+mn-lt"/>
                <a:cs typeface="+mn-lt"/>
              </a:rPr>
            </a:b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SELECT c.name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FROM Customers c</a:t>
            </a: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JOIN Orders o ON c.id =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o.customer_id</a:t>
            </a:r>
            <a:endParaRPr lang="en-US" err="1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  WHERE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c.country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= 'Japan';</a:t>
            </a:r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4884488-5EBA-E194-CD62-4F741D691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9BCDBB6D-EE23-FE5C-8946-39C4BFF56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41E49EB-F8F7-7E58-2892-15107C839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0AE4ACC-E655-AA92-2D41-12FFBE244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C40E0F4E-2B04-73C5-B9A7-6130E2165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9247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0998D96F-AAE4-EE2A-6C44-6597AC929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A98E2474-6814-7D1F-4601-F5C4CB531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60BDE1F-D55B-B7A9-9B79-F19EE768B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E70DDF96-1A28-0F8C-D160-274EDFCD09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9941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Erori</a:t>
            </a:r>
            <a:r>
              <a:rPr lang="en-US" sz="2700">
                <a:solidFill>
                  <a:schemeClr val="tx2"/>
                </a:solidFill>
              </a:rPr>
              <a:t> </a:t>
            </a:r>
            <a:r>
              <a:rPr lang="en-US" sz="2700" err="1">
                <a:solidFill>
                  <a:schemeClr val="tx2"/>
                </a:solidFill>
              </a:rPr>
              <a:t>folosind</a:t>
            </a:r>
            <a:r>
              <a:rPr lang="en-US" sz="2700">
                <a:solidFill>
                  <a:schemeClr val="tx2"/>
                </a:solidFill>
              </a:rPr>
              <a:t> JOIN - 2</a:t>
            </a:r>
            <a:endParaRPr lang="en-US" sz="2700" kern="120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3327AC81-DAC5-40E4-F103-2745098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2750202-628F-CFAC-2054-80A61CA09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D26727F-EAF0-38FF-E6F3-9B3EDAF9E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B5AFC3B-9DF8-A62B-1405-9CEA35F70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0A473FF-C08A-ED43-BD3A-FD907BE94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81BC2C01-FD05-E16D-E15C-F92E3AF47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168234"/>
            <a:ext cx="7375161" cy="202048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200">
                <a:ea typeface="+mn-lt"/>
                <a:cs typeface="+mn-lt"/>
              </a:rPr>
              <a:t>"Get the names of all Japanese customers who have placed at least one order."</a:t>
            </a:r>
            <a:br>
              <a:rPr lang="en-US" sz="1200">
                <a:solidFill>
                  <a:srgbClr val="8100C2"/>
                </a:solidFill>
                <a:ea typeface="+mn-lt"/>
                <a:cs typeface="+mn-lt"/>
              </a:rPr>
            </a:b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SELECT c.name</a:t>
            </a:r>
            <a:endParaRPr lang="en-US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FROM Customers c</a:t>
            </a:r>
            <a:endParaRPr lang="en-US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WHERE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c.Country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= 'Japan'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 AND EXISTS (</a:t>
            </a: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 SELECT 1</a:t>
            </a: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 FROM Orders o</a:t>
            </a:r>
            <a:endParaRPr lang="en-US"/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     WHERE </a:t>
            </a:r>
            <a:r>
              <a:rPr lang="en-US" sz="1200" err="1">
                <a:solidFill>
                  <a:schemeClr val="tx2"/>
                </a:solidFill>
                <a:ea typeface="+mn-lt"/>
                <a:cs typeface="+mn-lt"/>
              </a:rPr>
              <a:t>o.customer_id</a:t>
            </a: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 = c.id</a:t>
            </a:r>
            <a:endParaRPr lang="en-US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2"/>
                </a:solidFill>
                <a:ea typeface="+mn-lt"/>
                <a:cs typeface="+mn-lt"/>
              </a:rPr>
              <a:t>  );</a:t>
            </a:r>
            <a:endParaRPr lang="en-US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10E040D-23B1-0340-08F5-971CF1ADD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FF9BDF48-ADBD-8146-1614-670A7B2EF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52F5E958-0273-72CE-F665-B63F3D17E1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4D9A7F4-038A-43F5-2964-439436C2D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C39CDDD-A304-AE17-24CA-EC0D3AC46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3320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DAFBC5CE-7384-4FCC-2275-C2867145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EB5242C9-E74E-8140-2E88-DA6C720E4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B531E67-17AB-CAFF-FD48-0EF912D56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8D6A680E-D392-EB05-CE09-53820B8A8F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47396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Exercitiu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20D9F1C-879F-C377-BB82-020F3CE06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53E5208A-9900-B8CC-9888-5592F1F62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8C82ED24-B0BF-D4B9-6605-E4A77E9AA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933BAF1C-24DE-6FC7-55F3-283014036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FEAD59D-353C-1D8C-03BD-42D45912E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C560995-74D9-63FF-D141-D8CF84F24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1596735"/>
            <a:ext cx="7375161" cy="259198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lnSpcReduction="10000"/>
          </a:bodyPr>
          <a:lstStyle/>
          <a:p>
            <a:pPr marL="171450" indent="-171450">
              <a:lnSpc>
                <a:spcPct val="100000"/>
              </a:lnSpc>
            </a:pPr>
            <a:r>
              <a:rPr lang="en-US" sz="1100" dirty="0">
                <a:ea typeface="+mn-lt"/>
                <a:cs typeface="+mn-lt"/>
              </a:rPr>
              <a:t>Authors: </a:t>
            </a:r>
            <a:r>
              <a:rPr lang="en-US" sz="1100" dirty="0" err="1">
                <a:ea typeface="+mn-lt"/>
                <a:cs typeface="+mn-lt"/>
              </a:rPr>
              <a:t>AuthorID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AuthorName</a:t>
            </a:r>
            <a:r>
              <a:rPr lang="en-US" sz="1100" dirty="0">
                <a:ea typeface="+mn-lt"/>
                <a:cs typeface="+mn-lt"/>
              </a:rPr>
              <a:t>, Nationality</a:t>
            </a:r>
            <a:endParaRPr lang="en-US" dirty="0"/>
          </a:p>
          <a:p>
            <a:pPr marL="171450" indent="-171450">
              <a:lnSpc>
                <a:spcPct val="100000"/>
              </a:lnSpc>
            </a:pPr>
            <a:r>
              <a:rPr lang="en-US" sz="1100" dirty="0">
                <a:ea typeface="+mn-lt"/>
                <a:cs typeface="+mn-lt"/>
              </a:rPr>
              <a:t>Books: </a:t>
            </a:r>
            <a:r>
              <a:rPr lang="en-US" sz="1100" dirty="0" err="1">
                <a:ea typeface="+mn-lt"/>
                <a:cs typeface="+mn-lt"/>
              </a:rPr>
              <a:t>BookID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AuthorID</a:t>
            </a:r>
            <a:r>
              <a:rPr lang="en-US" sz="1100" dirty="0">
                <a:ea typeface="+mn-lt"/>
                <a:cs typeface="+mn-lt"/>
              </a:rPr>
              <a:t>, Title, </a:t>
            </a:r>
            <a:r>
              <a:rPr lang="en-US" sz="1100" dirty="0" err="1">
                <a:ea typeface="+mn-lt"/>
                <a:cs typeface="+mn-lt"/>
              </a:rPr>
              <a:t>PageCount</a:t>
            </a:r>
            <a:r>
              <a:rPr lang="en-US" sz="1100" dirty="0">
                <a:ea typeface="+mn-lt"/>
                <a:cs typeface="+mn-lt"/>
              </a:rPr>
              <a:t>, Genre</a:t>
            </a:r>
          </a:p>
          <a:p>
            <a:pPr marL="171450" indent="-171450">
              <a:lnSpc>
                <a:spcPct val="100000"/>
              </a:lnSpc>
            </a:pPr>
            <a:r>
              <a:rPr lang="en-US" sz="1100" dirty="0">
                <a:ea typeface="+mn-lt"/>
                <a:cs typeface="+mn-lt"/>
              </a:rPr>
              <a:t>Loans: </a:t>
            </a:r>
            <a:r>
              <a:rPr lang="en-US" sz="1100" dirty="0" err="1">
                <a:ea typeface="+mn-lt"/>
                <a:cs typeface="+mn-lt"/>
              </a:rPr>
              <a:t>LoanID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BookID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MemberID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BranchID</a:t>
            </a:r>
            <a:endParaRPr lang="en-US" sz="1100" dirty="0">
              <a:ea typeface="+mn-lt"/>
              <a:cs typeface="+mn-lt"/>
            </a:endParaRPr>
          </a:p>
          <a:p>
            <a:pPr marL="171450" indent="-171450">
              <a:lnSpc>
                <a:spcPct val="100000"/>
              </a:lnSpc>
            </a:pPr>
            <a:r>
              <a:rPr lang="en-US" sz="1100" dirty="0">
                <a:ea typeface="+mn-lt"/>
                <a:cs typeface="+mn-lt"/>
              </a:rPr>
              <a:t>Members: </a:t>
            </a:r>
            <a:r>
              <a:rPr lang="en-US" sz="1100" dirty="0" err="1">
                <a:ea typeface="+mn-lt"/>
                <a:cs typeface="+mn-lt"/>
              </a:rPr>
              <a:t>MemberID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MemberName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MembershipType</a:t>
            </a:r>
            <a:r>
              <a:rPr lang="en-US" sz="1100" dirty="0">
                <a:ea typeface="+mn-lt"/>
                <a:cs typeface="+mn-lt"/>
              </a:rPr>
              <a:t> ('Premium', 'Basic')</a:t>
            </a:r>
          </a:p>
          <a:p>
            <a:pPr marL="171450" indent="-171450">
              <a:lnSpc>
                <a:spcPct val="100000"/>
              </a:lnSpc>
            </a:pPr>
            <a:r>
              <a:rPr lang="en-US" sz="1100" dirty="0">
                <a:ea typeface="+mn-lt"/>
                <a:cs typeface="+mn-lt"/>
              </a:rPr>
              <a:t>Branches: </a:t>
            </a:r>
            <a:r>
              <a:rPr lang="en-US" sz="1100" dirty="0" err="1">
                <a:ea typeface="+mn-lt"/>
                <a:cs typeface="+mn-lt"/>
              </a:rPr>
              <a:t>BranchID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BranchName</a:t>
            </a:r>
            <a:r>
              <a:rPr lang="en-US" sz="1100" dirty="0">
                <a:ea typeface="+mn-lt"/>
                <a:cs typeface="+mn-lt"/>
              </a:rPr>
              <a:t>, City, Status ('Active', 'Under Renovation')</a:t>
            </a:r>
          </a:p>
          <a:p>
            <a:pPr marL="171450" indent="-171450">
              <a:lnSpc>
                <a:spcPct val="100000"/>
              </a:lnSpc>
            </a:pPr>
            <a:endParaRPr lang="en-US" sz="110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 err="1"/>
              <a:t>Bibliotecta</a:t>
            </a:r>
            <a:r>
              <a:rPr lang="en-US" sz="1100" dirty="0"/>
              <a:t> </a:t>
            </a:r>
            <a:r>
              <a:rPr lang="en-US" sz="1100" dirty="0" err="1"/>
              <a:t>dorește</a:t>
            </a:r>
            <a:r>
              <a:rPr lang="en-US" sz="1100" dirty="0"/>
              <a:t> un </a:t>
            </a:r>
            <a:r>
              <a:rPr lang="en-US" sz="1100" dirty="0" err="1"/>
              <a:t>raport</a:t>
            </a:r>
            <a:r>
              <a:rPr lang="en-US" sz="1100" dirty="0"/>
              <a:t> </a:t>
            </a:r>
            <a:r>
              <a:rPr lang="en-US" sz="1100" dirty="0" err="1"/>
              <a:t>pentru</a:t>
            </a:r>
            <a:r>
              <a:rPr lang="en-US" sz="1100" dirty="0"/>
              <a:t> a decide care </a:t>
            </a:r>
            <a:r>
              <a:rPr lang="en-US" sz="1100" dirty="0" err="1"/>
              <a:t>autor</a:t>
            </a:r>
            <a:r>
              <a:rPr lang="en-US" sz="1100" dirty="0"/>
              <a:t> </a:t>
            </a:r>
            <a:r>
              <a:rPr lang="en-US" sz="1100" dirty="0" err="1"/>
              <a:t>merită</a:t>
            </a:r>
            <a:r>
              <a:rPr lang="en-US" sz="1100" dirty="0"/>
              <a:t> </a:t>
            </a:r>
            <a:r>
              <a:rPr lang="en-US" sz="1100" dirty="0" err="1"/>
              <a:t>promovat</a:t>
            </a:r>
            <a:r>
              <a:rPr lang="en-US" sz="1100" dirty="0"/>
              <a:t> </a:t>
            </a:r>
            <a:r>
              <a:rPr lang="en-US" sz="1100" dirty="0" err="1"/>
              <a:t>în</a:t>
            </a:r>
            <a:r>
              <a:rPr lang="en-US" sz="1100" dirty="0"/>
              <a:t> luna </a:t>
            </a:r>
            <a:r>
              <a:rPr lang="en-US" sz="1100" dirty="0" err="1"/>
              <a:t>următoare</a:t>
            </a:r>
            <a:r>
              <a:rPr lang="en-US" sz="1100" dirty="0"/>
              <a:t>. Un </a:t>
            </a:r>
            <a:r>
              <a:rPr lang="en-US" sz="1100" dirty="0" err="1"/>
              <a:t>autor</a:t>
            </a:r>
            <a:r>
              <a:rPr lang="en-US" sz="1100" dirty="0"/>
              <a:t> se </a:t>
            </a:r>
            <a:r>
              <a:rPr lang="en-US" sz="1100" dirty="0" err="1"/>
              <a:t>califică</a:t>
            </a:r>
            <a:r>
              <a:rPr lang="en-US" sz="1100" dirty="0"/>
              <a:t> </a:t>
            </a:r>
            <a:r>
              <a:rPr lang="en-US" sz="1100" dirty="0" err="1"/>
              <a:t>dacă</a:t>
            </a:r>
            <a:r>
              <a:rPr lang="en-US" sz="11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 err="1"/>
              <a:t>Cărțile</a:t>
            </a:r>
            <a:r>
              <a:rPr lang="en-US" sz="1100" dirty="0"/>
              <a:t> </a:t>
            </a:r>
            <a:r>
              <a:rPr lang="en-US" sz="1100" dirty="0" err="1"/>
              <a:t>scrise</a:t>
            </a:r>
            <a:r>
              <a:rPr lang="en-US" sz="1100" dirty="0"/>
              <a:t> de </a:t>
            </a:r>
            <a:r>
              <a:rPr lang="en-US" sz="1100" dirty="0" err="1"/>
              <a:t>el</a:t>
            </a:r>
            <a:r>
              <a:rPr lang="en-US" sz="1100" dirty="0"/>
              <a:t> au </a:t>
            </a:r>
            <a:r>
              <a:rPr lang="en-US" sz="1100" dirty="0" err="1"/>
              <a:t>fost</a:t>
            </a:r>
            <a:r>
              <a:rPr lang="en-US" sz="1100" dirty="0"/>
              <a:t> </a:t>
            </a:r>
            <a:r>
              <a:rPr lang="en-US" sz="1100" dirty="0" err="1"/>
              <a:t>împrumutate</a:t>
            </a:r>
            <a:r>
              <a:rPr lang="en-US" sz="1100" dirty="0"/>
              <a:t> de cel </a:t>
            </a:r>
            <a:r>
              <a:rPr lang="en-US" sz="1100" dirty="0" err="1"/>
              <a:t>puțin</a:t>
            </a:r>
            <a:r>
              <a:rPr lang="en-US" sz="1100" dirty="0"/>
              <a:t> 5 </a:t>
            </a:r>
            <a:r>
              <a:rPr lang="en-US" sz="1100" dirty="0" err="1"/>
              <a:t>ori</a:t>
            </a:r>
            <a:r>
              <a:rPr lang="en-US" sz="1100" dirty="0"/>
              <a:t> in total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Are cel </a:t>
            </a:r>
            <a:r>
              <a:rPr lang="en-US" sz="1100" dirty="0" err="1"/>
              <a:t>puțin</a:t>
            </a:r>
            <a:r>
              <a:rPr lang="en-US" sz="1100" dirty="0"/>
              <a:t> o carte cu </a:t>
            </a:r>
            <a:r>
              <a:rPr lang="en-US" sz="1100" dirty="0" err="1"/>
              <a:t>peste</a:t>
            </a:r>
            <a:r>
              <a:rPr lang="en-US" sz="1100" dirty="0"/>
              <a:t> 400 de </a:t>
            </a:r>
            <a:r>
              <a:rPr lang="en-US" sz="1100" dirty="0" err="1"/>
              <a:t>pagini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 err="1"/>
              <a:t>Pentru</a:t>
            </a:r>
            <a:r>
              <a:rPr lang="en-US" sz="1100" dirty="0"/>
              <a:t> </a:t>
            </a:r>
            <a:r>
              <a:rPr lang="en-US" sz="1100" dirty="0" err="1"/>
              <a:t>fiecare</a:t>
            </a:r>
            <a:r>
              <a:rPr lang="en-US" sz="1100" dirty="0"/>
              <a:t> </a:t>
            </a:r>
            <a:r>
              <a:rPr lang="en-US" sz="1100" dirty="0" err="1"/>
              <a:t>autor</a:t>
            </a:r>
            <a:r>
              <a:rPr lang="en-US" sz="1100" dirty="0"/>
              <a:t> </a:t>
            </a:r>
            <a:r>
              <a:rPr lang="en-US" sz="1100" dirty="0" err="1"/>
              <a:t>calificat</a:t>
            </a:r>
            <a:r>
              <a:rPr lang="en-US" sz="1100" dirty="0"/>
              <a:t>, </a:t>
            </a:r>
            <a:r>
              <a:rPr lang="en-US" sz="1100" dirty="0" err="1"/>
              <a:t>raportul</a:t>
            </a:r>
            <a:r>
              <a:rPr lang="en-US" sz="1100" dirty="0"/>
              <a:t> </a:t>
            </a:r>
            <a:r>
              <a:rPr lang="en-US" sz="1100" dirty="0" err="1"/>
              <a:t>va</a:t>
            </a:r>
            <a:r>
              <a:rPr lang="en-US" sz="1100" dirty="0"/>
              <a:t> </a:t>
            </a:r>
            <a:r>
              <a:rPr lang="en-US" sz="1100" dirty="0" err="1"/>
              <a:t>afișa</a:t>
            </a:r>
            <a:r>
              <a:rPr lang="en-US" sz="1100" dirty="0"/>
              <a:t> </a:t>
            </a:r>
            <a:r>
              <a:rPr lang="en-US" sz="1100" b="1" dirty="0" err="1"/>
              <a:t>numele</a:t>
            </a:r>
            <a:r>
              <a:rPr lang="en-US" sz="1100" b="1" dirty="0"/>
              <a:t>, </a:t>
            </a:r>
            <a:r>
              <a:rPr lang="en-US" sz="1100" b="1" dirty="0" err="1"/>
              <a:t>naționalitatea</a:t>
            </a:r>
            <a:r>
              <a:rPr lang="en-US" sz="1100" b="1" dirty="0"/>
              <a:t>, </a:t>
            </a:r>
            <a:r>
              <a:rPr lang="en-US" sz="1100" b="1" dirty="0" err="1"/>
              <a:t>numărul</a:t>
            </a:r>
            <a:r>
              <a:rPr lang="en-US" sz="1100" b="1" dirty="0"/>
              <a:t> total de </a:t>
            </a:r>
            <a:r>
              <a:rPr lang="en-US" sz="1100" b="1" dirty="0" err="1"/>
              <a:t>împrumuturi</a:t>
            </a:r>
            <a:r>
              <a:rPr lang="en-US" sz="1100" dirty="0"/>
              <a:t> </a:t>
            </a:r>
            <a:r>
              <a:rPr lang="en-US" sz="1100" dirty="0" err="1"/>
              <a:t>pentru</a:t>
            </a:r>
            <a:r>
              <a:rPr lang="en-US" sz="1100" dirty="0"/>
              <a:t> </a:t>
            </a:r>
            <a:r>
              <a:rPr lang="en-US" sz="1100" dirty="0" err="1"/>
              <a:t>toate</a:t>
            </a:r>
            <a:r>
              <a:rPr lang="en-US" sz="1100" dirty="0"/>
              <a:t> </a:t>
            </a:r>
            <a:r>
              <a:rPr lang="en-US" sz="1100" dirty="0" err="1"/>
              <a:t>cărțile</a:t>
            </a:r>
            <a:r>
              <a:rPr lang="en-US" sz="1100" dirty="0"/>
              <a:t> </a:t>
            </a:r>
            <a:r>
              <a:rPr lang="en-US" sz="1100" dirty="0" err="1"/>
              <a:t>scrise</a:t>
            </a:r>
            <a:r>
              <a:rPr lang="en-US" sz="1100" dirty="0"/>
              <a:t> </a:t>
            </a:r>
            <a:r>
              <a:rPr lang="en-US" sz="1100" dirty="0" err="1"/>
              <a:t>și</a:t>
            </a:r>
            <a:r>
              <a:rPr lang="en-US" sz="1100" dirty="0"/>
              <a:t> </a:t>
            </a:r>
            <a:r>
              <a:rPr lang="en-US" sz="1100" b="1" dirty="0" err="1"/>
              <a:t>numărul</a:t>
            </a:r>
            <a:r>
              <a:rPr lang="en-US" sz="1100" b="1" dirty="0"/>
              <a:t> </a:t>
            </a:r>
            <a:r>
              <a:rPr lang="en-US" sz="1100" b="1" dirty="0" err="1"/>
              <a:t>mediu</a:t>
            </a:r>
            <a:r>
              <a:rPr lang="en-US" sz="1100" b="1" dirty="0"/>
              <a:t> de </a:t>
            </a:r>
            <a:r>
              <a:rPr lang="en-US" sz="1100" b="1" dirty="0" err="1"/>
              <a:t>pagini</a:t>
            </a:r>
            <a:r>
              <a:rPr lang="en-US" sz="11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/>
              <a:t>Se </a:t>
            </a:r>
            <a:r>
              <a:rPr lang="en-US" sz="1100" dirty="0" err="1"/>
              <a:t>vor</a:t>
            </a:r>
            <a:r>
              <a:rPr lang="en-US" sz="1100" dirty="0"/>
              <a:t> </a:t>
            </a:r>
            <a:r>
              <a:rPr lang="en-US" sz="1100" dirty="0" err="1"/>
              <a:t>considera</a:t>
            </a:r>
            <a:r>
              <a:rPr lang="en-US" sz="1100" dirty="0"/>
              <a:t> </a:t>
            </a:r>
            <a:r>
              <a:rPr lang="en-US" sz="1100" dirty="0" err="1"/>
              <a:t>doar</a:t>
            </a:r>
            <a:r>
              <a:rPr lang="en-US" sz="1100" dirty="0"/>
              <a:t> </a:t>
            </a:r>
            <a:r>
              <a:rPr lang="en-US" sz="1100" dirty="0" err="1"/>
              <a:t>cărțile</a:t>
            </a:r>
            <a:r>
              <a:rPr lang="en-US" sz="1100" dirty="0"/>
              <a:t> </a:t>
            </a:r>
            <a:r>
              <a:rPr lang="en-US" sz="1100" dirty="0" err="1"/>
              <a:t>împrumutate</a:t>
            </a:r>
            <a:r>
              <a:rPr lang="en-US" sz="1100" dirty="0"/>
              <a:t> </a:t>
            </a:r>
            <a:r>
              <a:rPr lang="en-US" sz="1100" dirty="0" err="1"/>
              <a:t>în</a:t>
            </a:r>
            <a:r>
              <a:rPr lang="en-US" sz="1100" dirty="0"/>
              <a:t> </a:t>
            </a:r>
            <a:r>
              <a:rPr lang="en-US" sz="1100" b="1" dirty="0" err="1"/>
              <a:t>agențiile</a:t>
            </a:r>
            <a:r>
              <a:rPr lang="en-US" sz="1100" b="1" dirty="0"/>
              <a:t> active</a:t>
            </a:r>
            <a:r>
              <a:rPr lang="en-US" sz="1100" dirty="0"/>
              <a:t>. Se </a:t>
            </a:r>
            <a:r>
              <a:rPr lang="en-US" sz="1100" dirty="0" err="1"/>
              <a:t>vor</a:t>
            </a:r>
            <a:r>
              <a:rPr lang="en-US" sz="1100" dirty="0"/>
              <a:t> exclude </a:t>
            </a:r>
            <a:r>
              <a:rPr lang="en-US" sz="1100" dirty="0" err="1"/>
              <a:t>autorii</a:t>
            </a:r>
            <a:r>
              <a:rPr lang="en-US" sz="1100" dirty="0"/>
              <a:t> care </a:t>
            </a:r>
            <a:r>
              <a:rPr lang="en-US" sz="1100" b="1" dirty="0"/>
              <a:t>nu au cel </a:t>
            </a:r>
            <a:r>
              <a:rPr lang="en-US" sz="1100" b="1" dirty="0" err="1"/>
              <a:t>puțin</a:t>
            </a:r>
            <a:r>
              <a:rPr lang="en-US" sz="1100" b="1" dirty="0"/>
              <a:t> o carte</a:t>
            </a:r>
            <a:r>
              <a:rPr lang="en-US" sz="1100" dirty="0"/>
              <a:t> </a:t>
            </a:r>
            <a:r>
              <a:rPr lang="en-US" sz="1100" dirty="0" err="1"/>
              <a:t>împrumutată</a:t>
            </a:r>
            <a:r>
              <a:rPr lang="en-US" sz="11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 err="1"/>
              <a:t>Ordonați</a:t>
            </a:r>
            <a:r>
              <a:rPr lang="en-US" sz="1100" dirty="0"/>
              <a:t> </a:t>
            </a:r>
            <a:r>
              <a:rPr lang="en-US" sz="1100" dirty="0" err="1"/>
              <a:t>rezultatele</a:t>
            </a:r>
            <a:r>
              <a:rPr lang="en-US" sz="1100" dirty="0"/>
              <a:t> </a:t>
            </a:r>
            <a:r>
              <a:rPr lang="en-US" sz="1100" dirty="0" err="1"/>
              <a:t>în</a:t>
            </a:r>
            <a:r>
              <a:rPr lang="en-US" sz="1100" dirty="0"/>
              <a:t> </a:t>
            </a:r>
            <a:r>
              <a:rPr lang="en-US" sz="1100" dirty="0" err="1"/>
              <a:t>ordinea</a:t>
            </a:r>
            <a:r>
              <a:rPr lang="en-US" sz="1100" dirty="0"/>
              <a:t> </a:t>
            </a:r>
            <a:r>
              <a:rPr lang="en-US" sz="1100" dirty="0" err="1"/>
              <a:t>descrescătoare</a:t>
            </a:r>
            <a:r>
              <a:rPr lang="en-US" sz="1100" dirty="0"/>
              <a:t> a </a:t>
            </a:r>
            <a:r>
              <a:rPr lang="en-US" sz="1100" dirty="0" err="1"/>
              <a:t>numărului</a:t>
            </a:r>
            <a:r>
              <a:rPr lang="en-US" sz="1100" dirty="0"/>
              <a:t> de </a:t>
            </a:r>
            <a:r>
              <a:rPr lang="en-US" sz="1100" dirty="0" err="1"/>
              <a:t>împrumuturi</a:t>
            </a:r>
            <a:r>
              <a:rPr lang="en-US" sz="1100" dirty="0"/>
              <a:t>.</a:t>
            </a:r>
            <a:endParaRPr lang="en-US" sz="1200" dirty="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BE91048-FC08-71BF-DBD7-544571722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CD9754A-7A8F-48DB-C491-B3ABF5024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5CC8ADB3-59B5-8617-EB15-3F06B9064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F58237DA-B81F-41ED-5BCC-7B2092E0D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E401C91-C968-6493-AB99-EB6A2382D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5894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75784894-0A12-49AD-FF73-1AEC2351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C0EA57B6-5B14-35CD-525A-FE8310C46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CE71A9B-ADB1-12E9-60BE-18603C9D8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2F72D2F5-BFB5-4313-3F7C-1F0294ABE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47396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Exercitiu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66FAC26-1932-0703-C47F-E6AB9FC19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524BF54-66BC-1A52-C981-DDB32D52F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A35B23D1-3CA3-52D0-8CCC-1A97638D2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A1DA8B0-4014-B32F-E7D2-C55D89CF70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9317C88-8215-C605-C1CB-7DD93A9FB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9AE6AB8E-37A5-9286-240D-9557BD287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9572" y="1501486"/>
            <a:ext cx="7741507" cy="3317344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WITH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AuthorMetrics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AS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 SELECT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AuthorID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AuthorName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Nationality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51C2"/>
                </a:solidFill>
                <a:ea typeface="+mn-lt"/>
                <a:cs typeface="+mn-lt"/>
              </a:rPr>
              <a:t>COUNT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l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LoanID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AS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TotalLoans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0051C2"/>
                </a:solidFill>
                <a:ea typeface="+mn-lt"/>
                <a:cs typeface="+mn-lt"/>
              </a:rPr>
              <a:t>  AVG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b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PageCount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AS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AvgPageCount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51C2"/>
                </a:solidFill>
                <a:ea typeface="+mn-lt"/>
                <a:cs typeface="+mn-lt"/>
              </a:rPr>
              <a:t>MAX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b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PageCount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AS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MaxPageCount</a:t>
            </a:r>
            <a:endParaRPr lang="en-US" sz="120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 FROM</a:t>
            </a:r>
            <a:r>
              <a:rPr lang="en-US" sz="1200">
                <a:ea typeface="+mn-lt"/>
                <a:cs typeface="+mn-lt"/>
              </a:rPr>
              <a:t> Authors a</a:t>
            </a:r>
            <a:endParaRPr lang="en-US" sz="1200" err="1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  JOIN</a:t>
            </a:r>
            <a:r>
              <a:rPr lang="en-US" sz="1200">
                <a:ea typeface="+mn-lt"/>
                <a:cs typeface="+mn-lt"/>
              </a:rPr>
              <a:t> Books b 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ON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AuthorID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=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b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AuthorID</a:t>
            </a:r>
            <a:endParaRPr lang="en-US" sz="120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  JOIN</a:t>
            </a:r>
            <a:r>
              <a:rPr lang="en-US" sz="1200">
                <a:ea typeface="+mn-lt"/>
                <a:cs typeface="+mn-lt"/>
              </a:rPr>
              <a:t> Loans l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ON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b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BookID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=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l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BookID</a:t>
            </a:r>
            <a:endParaRPr lang="en-US" sz="120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  JOIN</a:t>
            </a:r>
            <a:r>
              <a:rPr lang="en-US" sz="1200">
                <a:ea typeface="+mn-lt"/>
                <a:cs typeface="+mn-lt"/>
              </a:rPr>
              <a:t> Branches </a:t>
            </a:r>
            <a:r>
              <a:rPr lang="en-US" sz="1200" err="1">
                <a:ea typeface="+mn-lt"/>
                <a:cs typeface="+mn-lt"/>
              </a:rPr>
              <a:t>br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ON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l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BranchID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=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br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BranchID</a:t>
            </a:r>
            <a:endParaRPr lang="en-US" sz="120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 WHERE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br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solidFill>
                  <a:srgbClr val="8100C2"/>
                </a:solidFill>
                <a:ea typeface="+mn-lt"/>
                <a:cs typeface="+mn-lt"/>
              </a:rPr>
              <a:t>Status</a:t>
            </a:r>
            <a:r>
              <a:rPr lang="en-US" sz="1200" err="1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=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8000"/>
                </a:solidFill>
                <a:ea typeface="+mn-lt"/>
                <a:cs typeface="+mn-lt"/>
              </a:rPr>
              <a:t>'Active'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 GROUP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BY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AuthorID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AuthorName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Nationality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SELECT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AuthorName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Nationality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TotalLoans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51C2"/>
                </a:solidFill>
                <a:ea typeface="+mn-lt"/>
                <a:cs typeface="+mn-lt"/>
              </a:rPr>
              <a:t>ROUND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AvgPageCount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8080"/>
                </a:solidFill>
                <a:ea typeface="+mn-lt"/>
                <a:cs typeface="+mn-lt"/>
              </a:rPr>
              <a:t>1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AS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AvgPageCount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FROM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AuthorMetrics</a:t>
            </a:r>
            <a:r>
              <a:rPr lang="en-US" sz="1200">
                <a:ea typeface="+mn-lt"/>
                <a:cs typeface="+mn-lt"/>
              </a:rPr>
              <a:t> am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WHERE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TotalLoans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&gt;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8080"/>
                </a:solidFill>
                <a:ea typeface="+mn-lt"/>
                <a:cs typeface="+mn-lt"/>
              </a:rPr>
              <a:t>5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UNION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SELECT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AuthorName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Nationality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TotalLoans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51C2"/>
                </a:solidFill>
                <a:ea typeface="+mn-lt"/>
                <a:cs typeface="+mn-lt"/>
              </a:rPr>
              <a:t>ROUND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(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AvgPageCount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,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8080"/>
                </a:solidFill>
                <a:ea typeface="+mn-lt"/>
                <a:cs typeface="+mn-lt"/>
              </a:rPr>
              <a:t>1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)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AS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AvgPageCount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FROM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AuthorMetrics</a:t>
            </a:r>
            <a:r>
              <a:rPr lang="en-US" sz="1200">
                <a:ea typeface="+mn-lt"/>
                <a:cs typeface="+mn-lt"/>
              </a:rPr>
              <a:t> am 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JOIN</a:t>
            </a:r>
            <a:r>
              <a:rPr lang="en-US" sz="1200">
                <a:ea typeface="+mn-lt"/>
                <a:cs typeface="+mn-lt"/>
              </a:rPr>
              <a:t> Books b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ON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am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AuthorID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=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b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AuthorID</a:t>
            </a:r>
            <a:endParaRPr lang="en-US" sz="120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WHERE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b</a:t>
            </a:r>
            <a:r>
              <a:rPr lang="en-US" sz="1200" err="1">
                <a:solidFill>
                  <a:srgbClr val="2B303B"/>
                </a:solidFill>
                <a:ea typeface="+mn-lt"/>
                <a:cs typeface="+mn-lt"/>
              </a:rPr>
              <a:t>.</a:t>
            </a:r>
            <a:r>
              <a:rPr lang="en-US" sz="1200" err="1">
                <a:ea typeface="+mn-lt"/>
                <a:cs typeface="+mn-lt"/>
              </a:rPr>
              <a:t>PageCount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14181F"/>
                </a:solidFill>
                <a:ea typeface="+mn-lt"/>
                <a:cs typeface="+mn-lt"/>
              </a:rPr>
              <a:t>&gt;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008080"/>
                </a:solidFill>
                <a:ea typeface="+mn-lt"/>
                <a:cs typeface="+mn-lt"/>
              </a:rPr>
              <a:t>400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ORDER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BY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TotalLoans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8100C2"/>
                </a:solidFill>
                <a:ea typeface="+mn-lt"/>
                <a:cs typeface="+mn-lt"/>
              </a:rPr>
              <a:t>DESC</a:t>
            </a:r>
            <a:r>
              <a:rPr lang="en-US" sz="1200">
                <a:solidFill>
                  <a:srgbClr val="2B303B"/>
                </a:solidFill>
                <a:ea typeface="+mn-lt"/>
                <a:cs typeface="+mn-lt"/>
              </a:rPr>
              <a:t>;</a:t>
            </a:r>
            <a:endParaRPr lang="en-US" sz="120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89E119A-D75D-6ADE-1F4E-0E58D550F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D84783A5-4B3E-9E8C-0230-AEA696666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5D851DD2-A3CA-0776-BCE2-35C6976AF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7D698EE-5943-9640-E478-4E43127D6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FFD3273F-1A1F-0207-ACF8-2C699B7E3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9214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D3FC-94C1-7010-C0CA-20788B928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ORACLE - AWR Reports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4B4CE-D14D-B0A9-D409-3D96CD6A9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83279-AA61-8E3C-CF33-30D3C22773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23</a:t>
            </a:fld>
            <a:endParaRPr lang="ro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303A77-1E5B-BD75-7248-44BB83A70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092625"/>
            <a:ext cx="9144000" cy="339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28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F33D-4F51-7580-C9BB-24FA02EF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AWR Reports – </a:t>
            </a:r>
            <a:r>
              <a:rPr lang="en-US" err="1"/>
              <a:t>examplul</a:t>
            </a:r>
            <a:r>
              <a:rPr lang="en-US"/>
              <a:t>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C3591-DD9F-5E82-9653-E7010A6D5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AF96-C817-73F9-9933-03D62CE300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24</a:t>
            </a:fld>
            <a:endParaRPr lang="ro"/>
          </a:p>
        </p:txBody>
      </p:sp>
      <p:pic>
        <p:nvPicPr>
          <p:cNvPr id="5" name="Picture 4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E5DCE23D-711D-0C4B-6093-F40515A3A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44" y="1017695"/>
            <a:ext cx="9144000" cy="39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850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8502DCD-758E-B701-DCE2-297FE2F0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" name="Rectangle 162">
            <a:extLst>
              <a:ext uri="{FF2B5EF4-FFF2-40B4-BE49-F238E27FC236}">
                <a16:creationId xmlns:a16="http://schemas.microsoft.com/office/drawing/2014/main" id="{E68B7058-A59A-913A-D10B-86DDB15F3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CA5E454-695B-098D-58AA-A3037206D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9A5794B7-FFDE-36CC-2A3A-3EF1EA325E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419" y="960509"/>
            <a:ext cx="7375161" cy="9941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err="1">
                <a:solidFill>
                  <a:schemeClr val="tx2"/>
                </a:solidFill>
              </a:rPr>
              <a:t>Monitorizare</a:t>
            </a:r>
            <a:r>
              <a:rPr lang="en-US" sz="2700">
                <a:solidFill>
                  <a:schemeClr val="tx2"/>
                </a:solidFill>
              </a:rPr>
              <a:t> - </a:t>
            </a:r>
            <a:r>
              <a:rPr lang="en-US" sz="2700" err="1">
                <a:solidFill>
                  <a:schemeClr val="tx2"/>
                </a:solidFill>
              </a:rPr>
              <a:t>Investigație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307E2162-E1DD-CFF0-1A14-9BD9B8EC6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4B71A6E-5A73-1B68-62F0-F731A2DA6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484550A-5D99-7D45-7E22-CDA63C695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90586EF-B082-28E5-D7CD-B67718A7F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14F763BF-84E3-A23C-C07A-347D5CD20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6A026BD-BE4D-5E69-B1BE-AD4BD615D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4419" y="2168234"/>
            <a:ext cx="7375161" cy="202048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1143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200" err="1">
                <a:solidFill>
                  <a:schemeClr val="tx2"/>
                </a:solidFill>
              </a:rPr>
              <a:t>Interogări</a:t>
            </a:r>
            <a:r>
              <a:rPr lang="en-US" sz="1200">
                <a:solidFill>
                  <a:schemeClr val="tx2"/>
                </a:solidFill>
              </a:rPr>
              <a:t> </a:t>
            </a:r>
            <a:r>
              <a:rPr lang="en-US" sz="1200" err="1">
                <a:solidFill>
                  <a:schemeClr val="tx2"/>
                </a:solidFill>
              </a:rPr>
              <a:t>ordonate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după</a:t>
            </a:r>
            <a:r>
              <a:rPr lang="en-US" sz="1200">
                <a:solidFill>
                  <a:schemeClr val="tx2"/>
                </a:solidFill>
              </a:rPr>
              <a:t>: </a:t>
            </a:r>
            <a:r>
              <a:rPr lang="en-US" sz="1200" err="1">
                <a:solidFill>
                  <a:schemeClr val="tx2"/>
                </a:solidFill>
              </a:rPr>
              <a:t>timp</a:t>
            </a:r>
            <a:r>
              <a:rPr lang="en-US" sz="1200">
                <a:solidFill>
                  <a:schemeClr val="tx2"/>
                </a:solidFill>
              </a:rPr>
              <a:t> de </a:t>
            </a:r>
            <a:r>
              <a:rPr lang="en-US" sz="1200" err="1">
                <a:solidFill>
                  <a:schemeClr val="tx2"/>
                </a:solidFill>
              </a:rPr>
              <a:t>execuție</a:t>
            </a:r>
            <a:r>
              <a:rPr lang="en-US" sz="1200">
                <a:solidFill>
                  <a:schemeClr val="tx2"/>
                </a:solidFill>
              </a:rPr>
              <a:t>, nr de </a:t>
            </a:r>
            <a:r>
              <a:rPr lang="en-US" sz="1200" err="1">
                <a:solidFill>
                  <a:schemeClr val="tx2"/>
                </a:solidFill>
              </a:rPr>
              <a:t>execuții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200" err="1">
                <a:solidFill>
                  <a:schemeClr val="tx2"/>
                </a:solidFill>
              </a:rPr>
              <a:t>Operații</a:t>
            </a:r>
            <a:r>
              <a:rPr lang="en-US" sz="1200">
                <a:solidFill>
                  <a:schemeClr val="tx2"/>
                </a:solidFill>
              </a:rPr>
              <a:t> de I/O: </a:t>
            </a:r>
            <a:r>
              <a:rPr lang="en-US" sz="1200" err="1">
                <a:solidFill>
                  <a:schemeClr val="tx2"/>
                </a:solidFill>
              </a:rPr>
              <a:t>pagini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citite</a:t>
            </a:r>
            <a:r>
              <a:rPr lang="en-US" sz="1200">
                <a:solidFill>
                  <a:schemeClr val="tx2"/>
                </a:solidFill>
              </a:rPr>
              <a:t>/</a:t>
            </a:r>
            <a:r>
              <a:rPr lang="en-US" sz="1200" err="1">
                <a:solidFill>
                  <a:schemeClr val="tx2"/>
                </a:solidFill>
              </a:rPr>
              <a:t>scrise</a:t>
            </a:r>
            <a:r>
              <a:rPr lang="en-US" sz="1200">
                <a:solidFill>
                  <a:schemeClr val="tx2"/>
                </a:solidFill>
              </a:rPr>
              <a:t>, </a:t>
            </a:r>
            <a:r>
              <a:rPr lang="en-US" sz="1200" err="1">
                <a:solidFill>
                  <a:schemeClr val="tx2"/>
                </a:solidFill>
              </a:rPr>
              <a:t>buffere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citite</a:t>
            </a:r>
            <a:r>
              <a:rPr lang="en-US" sz="1200">
                <a:solidFill>
                  <a:schemeClr val="tx2"/>
                </a:solidFill>
              </a:rPr>
              <a:t>/</a:t>
            </a:r>
            <a:r>
              <a:rPr lang="en-US" sz="1200" err="1">
                <a:solidFill>
                  <a:schemeClr val="tx2"/>
                </a:solidFill>
              </a:rPr>
              <a:t>scrise</a:t>
            </a:r>
            <a:r>
              <a:rPr lang="en-US" sz="1200">
                <a:solidFill>
                  <a:schemeClr val="tx2"/>
                </a:solidFill>
              </a:rPr>
              <a:t>, Reads/sec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200" err="1">
                <a:solidFill>
                  <a:schemeClr val="tx2"/>
                </a:solidFill>
              </a:rPr>
              <a:t>Verificare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planuri</a:t>
            </a:r>
            <a:r>
              <a:rPr lang="en-US" sz="1200">
                <a:solidFill>
                  <a:schemeClr val="tx2"/>
                </a:solidFill>
              </a:rPr>
              <a:t> de </a:t>
            </a:r>
            <a:r>
              <a:rPr lang="en-US" sz="1200" err="1">
                <a:solidFill>
                  <a:schemeClr val="tx2"/>
                </a:solidFill>
              </a:rPr>
              <a:t>execuție</a:t>
            </a:r>
            <a:r>
              <a:rPr lang="en-US" sz="1200">
                <a:solidFill>
                  <a:schemeClr val="tx2"/>
                </a:solidFill>
              </a:rPr>
              <a:t> la </a:t>
            </a:r>
            <a:r>
              <a:rPr lang="en-US" sz="1200" err="1">
                <a:solidFill>
                  <a:schemeClr val="tx2"/>
                </a:solidFill>
              </a:rPr>
              <a:t>interogările</a:t>
            </a:r>
            <a:r>
              <a:rPr lang="en-US" sz="1200">
                <a:solidFill>
                  <a:schemeClr val="tx2"/>
                </a:solidFill>
              </a:rPr>
              <a:t> care </a:t>
            </a:r>
            <a:r>
              <a:rPr lang="en-US" sz="1200" err="1">
                <a:solidFill>
                  <a:schemeClr val="tx2"/>
                </a:solidFill>
              </a:rPr>
              <a:t>rulează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încet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200" err="1">
                <a:solidFill>
                  <a:schemeClr val="tx2"/>
                </a:solidFill>
              </a:rPr>
              <a:t>Verificare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utilizare</a:t>
            </a:r>
            <a:r>
              <a:rPr lang="en-US" sz="1200">
                <a:solidFill>
                  <a:schemeClr val="tx2"/>
                </a:solidFill>
              </a:rPr>
              <a:t> </a:t>
            </a:r>
            <a:r>
              <a:rPr lang="en-US" sz="1200" err="1">
                <a:solidFill>
                  <a:schemeClr val="tx2"/>
                </a:solidFill>
              </a:rPr>
              <a:t>indecși</a:t>
            </a:r>
            <a:endParaRPr lang="en-US" sz="1200">
              <a:solidFill>
                <a:schemeClr val="tx2"/>
              </a:solidFill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1200">
              <a:solidFill>
                <a:schemeClr val="tx2"/>
              </a:solidFill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1200">
              <a:solidFill>
                <a:schemeClr val="tx2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994AB13C-97BE-D9C5-7743-E7488BD10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F63CE1E-740C-ECD6-2D25-D835621E8B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411DD36-FE4E-499D-043E-184AFF1F2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B8F54C4A-9727-4C7F-EA80-D4889D25A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4FDA806-CAD8-5434-6294-BCFDF91A2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6713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AEE42EB1-D753-C823-59A6-C429B91C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8" name="Rectangle 337">
            <a:extLst>
              <a:ext uri="{FF2B5EF4-FFF2-40B4-BE49-F238E27FC236}">
                <a16:creationId xmlns:a16="http://schemas.microsoft.com/office/drawing/2014/main" id="{E2BCD0D1-3504-EEBE-2210-4FA42622F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998C810F-132E-D047-CE1F-810DBD857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51435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7" name="Google Shape;317;p48">
            <a:extLst>
              <a:ext uri="{FF2B5EF4-FFF2-40B4-BE49-F238E27FC236}">
                <a16:creationId xmlns:a16="http://schemas.microsoft.com/office/drawing/2014/main" id="{F5A31DB4-0B1E-C0FF-48A0-AC32F4134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051" y="286451"/>
            <a:ext cx="3006438" cy="448081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Resurse și referințe</a:t>
            </a:r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9F731EFE-4FDF-02A4-6C41-09C19806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415613"/>
            <a:ext cx="430632" cy="806899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328" name="Graphic 11">
              <a:extLst>
                <a:ext uri="{FF2B5EF4-FFF2-40B4-BE49-F238E27FC236}">
                  <a16:creationId xmlns:a16="http://schemas.microsoft.com/office/drawing/2014/main" id="{33AAE55D-59F0-E4BC-09F6-0F683290B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Graphic 10">
              <a:extLst>
                <a:ext uri="{FF2B5EF4-FFF2-40B4-BE49-F238E27FC236}">
                  <a16:creationId xmlns:a16="http://schemas.microsoft.com/office/drawing/2014/main" id="{08AB65BA-3406-5D54-9270-3C526BB58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Graphic 12">
              <a:extLst>
                <a:ext uri="{FF2B5EF4-FFF2-40B4-BE49-F238E27FC236}">
                  <a16:creationId xmlns:a16="http://schemas.microsoft.com/office/drawing/2014/main" id="{77097E8B-1431-A00D-F866-20691DDADA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8" name="Google Shape;318;p48">
            <a:extLst>
              <a:ext uri="{FF2B5EF4-FFF2-40B4-BE49-F238E27FC236}">
                <a16:creationId xmlns:a16="http://schemas.microsoft.com/office/drawing/2014/main" id="{4D6A9262-F430-B562-6291-798D542E3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22924" y="388800"/>
            <a:ext cx="3578706" cy="437846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tx1">
                    <a:alpha val="80000"/>
                  </a:schemeClr>
                </a:solidFill>
              </a:rPr>
              <a:t>SQL Server: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1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https://learn.microsoft.com/en-us/sql/relational-databases/sql-server-transaction-locking-and-row-versioning-guide?view=sql-server-ver16</a:t>
            </a:r>
          </a:p>
          <a:p>
            <a:pPr>
              <a:buClr>
                <a:srgbClr val="000000"/>
              </a:buClr>
              <a:buSzPts val="1600"/>
              <a:buFont typeface="Arial" panose="020B0604020202020204" pitchFamily="34" charset="0"/>
              <a:buChar char="●"/>
            </a:pPr>
            <a:r>
              <a:rPr lang="en-US" sz="11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https://learn.microsoft.com/en-us/sql/relational-databases/extended-events/quick-start-extended-events-in-sql-server?view=sql-server-ver16</a:t>
            </a:r>
          </a:p>
          <a:p>
            <a:pPr>
              <a:buClr>
                <a:srgbClr val="000000"/>
              </a:buClr>
              <a:buSzPts val="1600"/>
              <a:buFont typeface="Arial" panose="020B0604020202020204" pitchFamily="34" charset="0"/>
              <a:buChar char="●"/>
            </a:pPr>
            <a:r>
              <a:rPr lang="en-US" sz="11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https://learn.microsoft.com/en-us/sql/relational-databases/system-stored-procedures/sp-lock-transact-sql?view=sql-server-ver16</a:t>
            </a:r>
            <a:endParaRPr lang="en-US" sz="1100">
              <a:solidFill>
                <a:schemeClr val="tx1">
                  <a:alpha val="80000"/>
                </a:schemeClr>
              </a:solidFill>
            </a:endParaRPr>
          </a:p>
          <a:p>
            <a:pPr>
              <a:buClr>
                <a:srgbClr val="000000"/>
              </a:buClr>
              <a:buSzPts val="1600"/>
              <a:buFont typeface="Arial" panose="020B0604020202020204" pitchFamily="34" charset="0"/>
              <a:buChar char="●"/>
            </a:pPr>
            <a:r>
              <a:rPr lang="en-US" sz="11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https://learn.microsoft.com/en-us/sql/relational-databases/system-dynamic-management-views/sys-dm-tran-locks-transact-sql?view=sql-server-ver17</a:t>
            </a:r>
            <a:endParaRPr lang="en-US" sz="1100">
              <a:solidFill>
                <a:schemeClr val="tx1">
                  <a:alpha val="80000"/>
                </a:schemeClr>
              </a:solidFill>
            </a:endParaRPr>
          </a:p>
          <a:p>
            <a:pPr marL="0" lvl="0" indent="-2286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chemeClr val="tx1">
                    <a:alpha val="80000"/>
                  </a:schemeClr>
                </a:solidFill>
              </a:rPr>
              <a:t>PostgreSQL:</a:t>
            </a:r>
          </a:p>
          <a:p>
            <a:pPr marL="457200" lvl="0" indent="-2286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https://www.postgresql.org/docs/18/mvcc.html</a:t>
            </a:r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CFFE9701-6A75-BC9E-910A-FD1C8A168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2707795"/>
            <a:ext cx="0" cy="242904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93119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3" ma:contentTypeDescription="Create a new document." ma:contentTypeScope="" ma:versionID="60fe77405bdc5da79b2d3374168756e8">
  <xsd:schema xmlns:xsd="http://www.w3.org/2001/XMLSchema" xmlns:xs="http://www.w3.org/2001/XMLSchema" xmlns:p="http://schemas.microsoft.com/office/2006/metadata/properties" xmlns:ns2="a0c27445-6953-4051-a1c7-5eac88945434" targetNamespace="http://schemas.microsoft.com/office/2006/metadata/properties" ma:root="true" ma:fieldsID="295708cf5b1540d59e7ab692ea8d0b11" ns2:_="">
    <xsd:import namespace="a0c27445-6953-4051-a1c7-5eac889454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c27445-6953-4051-a1c7-5eac889454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3EAEAA-0CCC-4ECA-9BE0-E81E3D504F7A}"/>
</file>

<file path=customXml/itemProps2.xml><?xml version="1.0" encoding="utf-8"?>
<ds:datastoreItem xmlns:ds="http://schemas.openxmlformats.org/officeDocument/2006/customXml" ds:itemID="{13B4D1FA-9D49-420C-9B5E-CD924B155036}"/>
</file>

<file path=customXml/itemProps3.xml><?xml version="1.0" encoding="utf-8"?>
<ds:datastoreItem xmlns:ds="http://schemas.openxmlformats.org/officeDocument/2006/customXml" ds:itemID="{73BF9C87-085F-47BC-8783-2039B2D2A452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26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AccentBoxVTI</vt:lpstr>
      <vt:lpstr>Optimizarea interogărilor SQL  Seminar 5</vt:lpstr>
      <vt:lpstr>De ce contează optimizarea?</vt:lpstr>
      <vt:lpstr>Optimizarea SQL</vt:lpstr>
      <vt:lpstr>Exemple:</vt:lpstr>
      <vt:lpstr>Exemplu</vt:lpstr>
      <vt:lpstr>Exemplu</vt:lpstr>
      <vt:lpstr>Exemplu</vt:lpstr>
      <vt:lpstr>Exemplu</vt:lpstr>
      <vt:lpstr>Solutie</vt:lpstr>
      <vt:lpstr>Interogări imbricate – JOINS - EXISTS</vt:lpstr>
      <vt:lpstr>Interogări imbricate - slow</vt:lpstr>
      <vt:lpstr>Interogări imbricate – soluția 1: JOIN</vt:lpstr>
      <vt:lpstr>Interogări imbricate – soluția 2: WITH (CTE)</vt:lpstr>
      <vt:lpstr>Erori de evitat</vt:lpstr>
      <vt:lpstr>OR vs UNION ALL </vt:lpstr>
      <vt:lpstr>OR vs UNION ALL </vt:lpstr>
      <vt:lpstr>OR vs UNION ALL - Plan</vt:lpstr>
      <vt:lpstr>Planuri de execuție</vt:lpstr>
      <vt:lpstr>Erori folosind JOIN </vt:lpstr>
      <vt:lpstr>Erori folosind JOIN - 2</vt:lpstr>
      <vt:lpstr>Exercitiu</vt:lpstr>
      <vt:lpstr>Exercitiu</vt:lpstr>
      <vt:lpstr>ORACLE - AWR Reports </vt:lpstr>
      <vt:lpstr>AWR Reports – examplul 2</vt:lpstr>
      <vt:lpstr>Monitorizare - Investigație</vt:lpstr>
      <vt:lpstr>Resurse și referințe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</cp:revision>
  <dcterms:modified xsi:type="dcterms:W3CDTF">2026-05-08T09:03:22Z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